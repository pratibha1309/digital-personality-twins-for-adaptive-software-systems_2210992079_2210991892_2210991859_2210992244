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503" r:id="rId2"/>
    <p:sldId id="496" r:id="rId3"/>
    <p:sldId id="582" r:id="rId4"/>
    <p:sldId id="600" r:id="rId5"/>
    <p:sldId id="583" r:id="rId6"/>
    <p:sldId id="607" r:id="rId7"/>
    <p:sldId id="601" r:id="rId8"/>
    <p:sldId id="602" r:id="rId9"/>
    <p:sldId id="603" r:id="rId10"/>
    <p:sldId id="611" r:id="rId11"/>
    <p:sldId id="587" r:id="rId12"/>
    <p:sldId id="604" r:id="rId13"/>
    <p:sldId id="609" r:id="rId14"/>
    <p:sldId id="610" r:id="rId15"/>
    <p:sldId id="612" r:id="rId16"/>
    <p:sldId id="613" r:id="rId17"/>
    <p:sldId id="590" r:id="rId1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521415D9-36F7-43E2-AB2F-B90AF26B5E84}">
      <p14:sectionLst xmlns:p14="http://schemas.microsoft.com/office/powerpoint/2010/main">
        <p14:section name="Default Section" id="{3B91E83D-0711-476B-AEF0-2D3F821826F8}">
          <p14:sldIdLst>
            <p14:sldId id="503"/>
            <p14:sldId id="496"/>
            <p14:sldId id="582"/>
            <p14:sldId id="600"/>
            <p14:sldId id="583"/>
            <p14:sldId id="607"/>
            <p14:sldId id="601"/>
            <p14:sldId id="602"/>
            <p14:sldId id="603"/>
            <p14:sldId id="611"/>
            <p14:sldId id="587"/>
            <p14:sldId id="604"/>
            <p14:sldId id="609"/>
            <p14:sldId id="610"/>
            <p14:sldId id="612"/>
            <p14:sldId id="613"/>
            <p14:sldId id="59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FF"/>
    <a:srgbClr val="F6CAD4"/>
    <a:srgbClr val="F9B9EB"/>
    <a:srgbClr val="F139E4"/>
    <a:srgbClr val="FFFF66"/>
    <a:srgbClr val="3A30FA"/>
    <a:srgbClr val="FF6600"/>
    <a:srgbClr val="B85250"/>
    <a:srgbClr val="FF330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B35FF6-CA25-41D2-BE2C-4DA03E8FD570}" v="8" dt="2025-03-04T18:48:13.9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09" autoAdjust="0"/>
    <p:restoredTop sz="95332" autoAdjust="0"/>
  </p:normalViewPr>
  <p:slideViewPr>
    <p:cSldViewPr>
      <p:cViewPr varScale="1">
        <p:scale>
          <a:sx n="63" d="100"/>
          <a:sy n="63" d="100"/>
        </p:scale>
        <p:origin x="1572" y="52"/>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1031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charset="0"/>
                <a:ea typeface="ＭＳ Ｐゴシック" charset="-128"/>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defRPr>
            </a:lvl1pPr>
          </a:lstStyle>
          <a:p>
            <a:fld id="{88709C98-B80A-4F28-AF74-CF08CF81A715}" type="datetime1">
              <a:rPr lang="en-US"/>
              <a:pPr/>
              <a:t>4/28/2026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charset="0"/>
                <a:ea typeface="ＭＳ Ｐゴシック" charset="-128"/>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defRPr>
            </a:lvl1pPr>
          </a:lstStyle>
          <a:p>
            <a:fld id="{4D112868-65FD-4572-A383-97DC0EC9B913}" type="slidenum">
              <a:rPr lang="en-US"/>
              <a:pPr/>
              <a:t>‹#›</a:t>
            </a:fld>
            <a:endParaRPr lang="en-US"/>
          </a:p>
        </p:txBody>
      </p:sp>
    </p:spTree>
    <p:extLst>
      <p:ext uri="{BB962C8B-B14F-4D97-AF65-F5344CB8AC3E}">
        <p14:creationId xmlns:p14="http://schemas.microsoft.com/office/powerpoint/2010/main" val="2731592581"/>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a:cs typeface="MS PGothic"/>
      </a:defRPr>
    </a:lvl1pPr>
    <a:lvl2pPr marL="457200" algn="l" defTabSz="457200" rtl="0" eaLnBrk="0" fontAlgn="base" hangingPunct="0">
      <a:spcBef>
        <a:spcPct val="30000"/>
      </a:spcBef>
      <a:spcAft>
        <a:spcPct val="0"/>
      </a:spcAft>
      <a:defRPr sz="1200" kern="1200">
        <a:solidFill>
          <a:schemeClr val="tx1"/>
        </a:solidFill>
        <a:latin typeface="+mn-lt"/>
        <a:ea typeface="MS PGothic"/>
        <a:cs typeface="MS PGothic"/>
      </a:defRPr>
    </a:lvl2pPr>
    <a:lvl3pPr marL="914400" algn="l" defTabSz="457200" rtl="0" eaLnBrk="0" fontAlgn="base" hangingPunct="0">
      <a:spcBef>
        <a:spcPct val="30000"/>
      </a:spcBef>
      <a:spcAft>
        <a:spcPct val="0"/>
      </a:spcAft>
      <a:defRPr sz="1200" kern="1200">
        <a:solidFill>
          <a:schemeClr val="tx1"/>
        </a:solidFill>
        <a:latin typeface="+mn-lt"/>
        <a:ea typeface="MS PGothic"/>
        <a:cs typeface="MS PGothic"/>
      </a:defRPr>
    </a:lvl3pPr>
    <a:lvl4pPr marL="1371600" algn="l" defTabSz="457200" rtl="0" eaLnBrk="0" fontAlgn="base" hangingPunct="0">
      <a:spcBef>
        <a:spcPct val="30000"/>
      </a:spcBef>
      <a:spcAft>
        <a:spcPct val="0"/>
      </a:spcAft>
      <a:defRPr sz="1200" kern="1200">
        <a:solidFill>
          <a:schemeClr val="tx1"/>
        </a:solidFill>
        <a:latin typeface="+mn-lt"/>
        <a:ea typeface="MS PGothic"/>
        <a:cs typeface="MS PGothic"/>
      </a:defRPr>
    </a:lvl4pPr>
    <a:lvl5pPr marL="1828800" algn="l" defTabSz="457200" rtl="0" eaLnBrk="0" fontAlgn="base" hangingPunct="0">
      <a:spcBef>
        <a:spcPct val="30000"/>
      </a:spcBef>
      <a:spcAft>
        <a:spcPct val="0"/>
      </a:spcAft>
      <a:defRPr sz="1200" kern="1200">
        <a:solidFill>
          <a:schemeClr val="tx1"/>
        </a:solidFill>
        <a:latin typeface="+mn-lt"/>
        <a:ea typeface="MS PGothic"/>
        <a:cs typeface="MS PGothic"/>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r>
              <a:rPr lang="en-US"/>
              <a:t>OOP Using JAVA</a:t>
            </a:r>
          </a:p>
        </p:txBody>
      </p:sp>
      <p:sp>
        <p:nvSpPr>
          <p:cNvPr id="5" name="Footer Placeholder 4"/>
          <p:cNvSpPr>
            <a:spLocks noGrp="1"/>
          </p:cNvSpPr>
          <p:nvPr>
            <p:ph type="ftr" sz="quarter" idx="11"/>
          </p:nvPr>
        </p:nvSpPr>
        <p:spPr/>
        <p:txBody>
          <a:bodyPr/>
          <a:lstStyle>
            <a:lvl1pPr>
              <a:defRPr/>
            </a:lvl1pPr>
          </a:lstStyle>
          <a:p>
            <a:pPr>
              <a:defRPr/>
            </a:pPr>
            <a:r>
              <a:rPr lang="en-US"/>
              <a:t>Faculty Name - GroupNo</a:t>
            </a:r>
          </a:p>
        </p:txBody>
      </p:sp>
      <p:sp>
        <p:nvSpPr>
          <p:cNvPr id="6" name="Slide Number Placeholder 5"/>
          <p:cNvSpPr>
            <a:spLocks noGrp="1"/>
          </p:cNvSpPr>
          <p:nvPr>
            <p:ph type="sldNum" sz="quarter" idx="12"/>
          </p:nvPr>
        </p:nvSpPr>
        <p:spPr/>
        <p:txBody>
          <a:bodyPr/>
          <a:lstStyle>
            <a:lvl1pPr>
              <a:defRPr/>
            </a:lvl1pPr>
          </a:lstStyle>
          <a:p>
            <a:fld id="{FFC4ABB8-5B0F-4AA4-B6A6-7C7E2BD089D3}"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userDrawn="1"/>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userDrawn="1"/>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userDrawn="1"/>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p:cNvSpPr>
            <a:spLocks noGrp="1"/>
          </p:cNvSpPr>
          <p:nvPr>
            <p:ph type="dt" sz="half" idx="10"/>
          </p:nvPr>
        </p:nvSpPr>
        <p:spPr/>
        <p:txBody>
          <a:bodyPr/>
          <a:lstStyle>
            <a:lvl1pPr>
              <a:defRPr/>
            </a:lvl1pPr>
          </a:lstStyle>
          <a:p>
            <a:r>
              <a:rPr lang="en-US"/>
              <a:t>OOP Using JAVA</a:t>
            </a:r>
          </a:p>
        </p:txBody>
      </p:sp>
      <p:sp>
        <p:nvSpPr>
          <p:cNvPr id="11" name="Footer Placeholder 4"/>
          <p:cNvSpPr>
            <a:spLocks noGrp="1"/>
          </p:cNvSpPr>
          <p:nvPr>
            <p:ph type="ftr" sz="quarter" idx="11"/>
          </p:nvPr>
        </p:nvSpPr>
        <p:spPr/>
        <p:txBody>
          <a:bodyPr/>
          <a:lstStyle>
            <a:lvl1pPr>
              <a:defRPr/>
            </a:lvl1pPr>
          </a:lstStyle>
          <a:p>
            <a:pPr>
              <a:defRPr/>
            </a:pPr>
            <a:r>
              <a:rPr lang="en-US"/>
              <a:t>Faculty Name - GroupNo</a:t>
            </a:r>
          </a:p>
        </p:txBody>
      </p:sp>
      <p:sp>
        <p:nvSpPr>
          <p:cNvPr id="12" name="Slide Number Placeholder 5"/>
          <p:cNvSpPr>
            <a:spLocks noGrp="1"/>
          </p:cNvSpPr>
          <p:nvPr>
            <p:ph type="sldNum" sz="quarter" idx="12"/>
          </p:nvPr>
        </p:nvSpPr>
        <p:spPr/>
        <p:txBody>
          <a:bodyPr/>
          <a:lstStyle>
            <a:lvl1pPr>
              <a:defRPr/>
            </a:lvl1pPr>
          </a:lstStyle>
          <a:p>
            <a:fld id="{8BD8F058-9003-4658-AA47-7D4800AF7EA2}"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0070C0"/>
                </a:solidFill>
                <a:latin typeface="Times New Roman" pitchFamily="18" charset="0"/>
                <a:cs typeface="Times New Roman" pitchFamily="18" charset="0"/>
              </a:defRPr>
            </a:lvl1pPr>
          </a:lstStyle>
          <a:p>
            <a:r>
              <a:rPr lang="en-US"/>
              <a:t>OOP Using JAVA</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0070C0"/>
                </a:solidFill>
                <a:latin typeface="Times New Roman" pitchFamily="18" charset="0"/>
                <a:ea typeface="ＭＳ Ｐゴシック" charset="-128"/>
                <a:cs typeface="Times New Roman" pitchFamily="18" charset="0"/>
              </a:defRPr>
            </a:lvl1pPr>
          </a:lstStyle>
          <a:p>
            <a:pPr>
              <a:defRPr/>
            </a:pPr>
            <a:r>
              <a:rPr lang="en-US"/>
              <a:t>Faculty Name - GroupNo</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0070C0"/>
                </a:solidFill>
                <a:latin typeface="Times New Roman" pitchFamily="18" charset="0"/>
                <a:cs typeface="Times New Roman" pitchFamily="18" charset="0"/>
              </a:defRPr>
            </a:lvl1pPr>
          </a:lstStyle>
          <a:p>
            <a:fld id="{775DC763-8AAC-4A07-A453-38B55A3783BD}" type="slidenum">
              <a:rPr lang="en-US" smtClean="0"/>
              <a:pPr/>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1037"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4"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5"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504" r:id="rId1"/>
    <p:sldLayoutId id="2147484505" r:id="rId2"/>
  </p:sldLayoutIdLst>
  <p:hf hdr="0" dt="0"/>
  <p:txStyles>
    <p:titleStyle>
      <a:lvl1pPr algn="ctr" rtl="0" eaLnBrk="0" fontAlgn="base" hangingPunct="0">
        <a:spcBef>
          <a:spcPct val="0"/>
        </a:spcBef>
        <a:spcAft>
          <a:spcPct val="0"/>
        </a:spcAft>
        <a:defRPr sz="3000" kern="1200">
          <a:solidFill>
            <a:schemeClr val="tx1"/>
          </a:solidFill>
          <a:latin typeface="+mj-lt"/>
          <a:ea typeface="MS PGothic"/>
          <a:cs typeface="MS PGothic"/>
        </a:defRPr>
      </a:lvl1pPr>
      <a:lvl2pPr algn="ctr" rtl="0" eaLnBrk="0" fontAlgn="base" hangingPunct="0">
        <a:spcBef>
          <a:spcPct val="0"/>
        </a:spcBef>
        <a:spcAft>
          <a:spcPct val="0"/>
        </a:spcAft>
        <a:defRPr sz="3000">
          <a:solidFill>
            <a:schemeClr val="tx1"/>
          </a:solidFill>
          <a:latin typeface="Calibri" charset="0"/>
          <a:ea typeface="MS PGothic"/>
          <a:cs typeface="MS PGothic"/>
        </a:defRPr>
      </a:lvl2pPr>
      <a:lvl3pPr algn="ctr" rtl="0" eaLnBrk="0" fontAlgn="base" hangingPunct="0">
        <a:spcBef>
          <a:spcPct val="0"/>
        </a:spcBef>
        <a:spcAft>
          <a:spcPct val="0"/>
        </a:spcAft>
        <a:defRPr sz="3000">
          <a:solidFill>
            <a:schemeClr val="tx1"/>
          </a:solidFill>
          <a:latin typeface="Calibri" charset="0"/>
          <a:ea typeface="MS PGothic"/>
          <a:cs typeface="MS PGothic"/>
        </a:defRPr>
      </a:lvl3pPr>
      <a:lvl4pPr algn="ctr" rtl="0" eaLnBrk="0" fontAlgn="base" hangingPunct="0">
        <a:spcBef>
          <a:spcPct val="0"/>
        </a:spcBef>
        <a:spcAft>
          <a:spcPct val="0"/>
        </a:spcAft>
        <a:defRPr sz="3000">
          <a:solidFill>
            <a:schemeClr val="tx1"/>
          </a:solidFill>
          <a:latin typeface="Calibri" charset="0"/>
          <a:ea typeface="MS PGothic"/>
          <a:cs typeface="MS PGothic"/>
        </a:defRPr>
      </a:lvl4pPr>
      <a:lvl5pPr algn="ctr" rtl="0" eaLnBrk="0" fontAlgn="base" hangingPunct="0">
        <a:spcBef>
          <a:spcPct val="0"/>
        </a:spcBef>
        <a:spcAft>
          <a:spcPct val="0"/>
        </a:spcAft>
        <a:defRPr sz="3000">
          <a:solidFill>
            <a:schemeClr val="tx1"/>
          </a:solidFill>
          <a:latin typeface="Calibri" charset="0"/>
          <a:ea typeface="MS PGothic"/>
          <a:cs typeface="MS PGothic"/>
        </a:defRPr>
      </a:lvl5pPr>
      <a:lvl6pPr marL="457200" algn="ctr" rtl="0" fontAlgn="base">
        <a:spcBef>
          <a:spcPct val="0"/>
        </a:spcBef>
        <a:spcAft>
          <a:spcPct val="0"/>
        </a:spcAft>
        <a:defRPr sz="3000">
          <a:solidFill>
            <a:schemeClr val="tx1"/>
          </a:solidFill>
          <a:latin typeface="Calibri" charset="0"/>
          <a:ea typeface="ＭＳ Ｐゴシック" charset="-128"/>
        </a:defRPr>
      </a:lvl6pPr>
      <a:lvl7pPr marL="914400" algn="ctr" rtl="0" fontAlgn="base">
        <a:spcBef>
          <a:spcPct val="0"/>
        </a:spcBef>
        <a:spcAft>
          <a:spcPct val="0"/>
        </a:spcAft>
        <a:defRPr sz="3000">
          <a:solidFill>
            <a:schemeClr val="tx1"/>
          </a:solidFill>
          <a:latin typeface="Calibri" charset="0"/>
          <a:ea typeface="ＭＳ Ｐゴシック" charset="-128"/>
        </a:defRPr>
      </a:lvl7pPr>
      <a:lvl8pPr marL="1371600" algn="ctr" rtl="0" fontAlgn="base">
        <a:spcBef>
          <a:spcPct val="0"/>
        </a:spcBef>
        <a:spcAft>
          <a:spcPct val="0"/>
        </a:spcAft>
        <a:defRPr sz="3000">
          <a:solidFill>
            <a:schemeClr val="tx1"/>
          </a:solidFill>
          <a:latin typeface="Calibri" charset="0"/>
          <a:ea typeface="ＭＳ Ｐゴシック" charset="-128"/>
        </a:defRPr>
      </a:lvl8pPr>
      <a:lvl9pPr marL="1828800" algn="ctr" rtl="0" fontAlgn="base">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arxiv.org/abs/1812.02648v1"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67544" y="908720"/>
            <a:ext cx="8153400" cy="5256584"/>
          </a:xfrm>
        </p:spPr>
        <p:txBody>
          <a:bodyPr/>
          <a:lstStyle/>
          <a:p>
            <a:pPr>
              <a:spcBef>
                <a:spcPts val="400"/>
              </a:spcBef>
            </a:pPr>
            <a:r>
              <a:rPr lang="en-IN" sz="20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r>
              <a:rPr lang="en-US" sz="2000" b="1" dirty="0">
                <a:solidFill>
                  <a:schemeClr val="tx1"/>
                </a:solidFill>
                <a:latin typeface="Times New Roman" panose="02020603050405020304" pitchFamily="18" charset="0"/>
                <a:cs typeface="Times New Roman" panose="02020603050405020304" pitchFamily="18" charset="0"/>
              </a:rPr>
              <a:t>On</a:t>
            </a:r>
          </a:p>
          <a:p>
            <a:r>
              <a:rPr lang="en-US" sz="2800" b="1" dirty="0">
                <a:solidFill>
                  <a:schemeClr val="tx1"/>
                </a:solidFill>
                <a:latin typeface="Times New Roman" panose="02020603050405020304" pitchFamily="18" charset="0"/>
                <a:cs typeface="Times New Roman" panose="02020603050405020304" pitchFamily="18" charset="0"/>
              </a:rPr>
              <a:t>Digital Personality Twins for Adaptive Software Systems</a:t>
            </a:r>
          </a:p>
          <a:p>
            <a:pPr>
              <a:spcBef>
                <a:spcPts val="0"/>
              </a:spcBef>
            </a:pPr>
            <a:r>
              <a:rPr lang="en-US" sz="2800" b="1" dirty="0">
                <a:solidFill>
                  <a:schemeClr val="tx1"/>
                </a:solidFill>
                <a:latin typeface="Times New Roman" panose="02020603050405020304" pitchFamily="18" charset="0"/>
                <a:cs typeface="Times New Roman" panose="02020603050405020304" pitchFamily="18" charset="0"/>
              </a:rPr>
              <a:t>Team Members:</a:t>
            </a:r>
          </a:p>
          <a:p>
            <a:pPr>
              <a:spcBef>
                <a:spcPts val="0"/>
              </a:spcBef>
            </a:pPr>
            <a:r>
              <a:rPr lang="en-US" sz="2400" b="1" dirty="0">
                <a:solidFill>
                  <a:schemeClr val="tx1"/>
                </a:solidFill>
                <a:latin typeface="Times New Roman" panose="02020603050405020304" pitchFamily="18" charset="0"/>
                <a:cs typeface="Times New Roman" panose="02020603050405020304" pitchFamily="18" charset="0"/>
              </a:rPr>
              <a:t>Pratibha (2210992079)</a:t>
            </a:r>
          </a:p>
          <a:p>
            <a:pPr>
              <a:spcBef>
                <a:spcPts val="0"/>
              </a:spcBef>
            </a:pPr>
            <a:r>
              <a:rPr lang="en-US" sz="2400" b="1" dirty="0">
                <a:solidFill>
                  <a:schemeClr val="tx1"/>
                </a:solidFill>
                <a:latin typeface="Times New Roman" panose="02020603050405020304" pitchFamily="18" charset="0"/>
                <a:cs typeface="Times New Roman" panose="02020603050405020304" pitchFamily="18" charset="0"/>
              </a:rPr>
              <a:t>Mansi Garg (2210991892)</a:t>
            </a:r>
          </a:p>
          <a:p>
            <a:pPr>
              <a:spcBef>
                <a:spcPts val="0"/>
              </a:spcBef>
            </a:pPr>
            <a:r>
              <a:rPr lang="en-US" sz="2400" b="1" dirty="0" err="1">
                <a:solidFill>
                  <a:schemeClr val="tx1"/>
                </a:solidFill>
                <a:latin typeface="Times New Roman" panose="02020603050405020304" pitchFamily="18" charset="0"/>
                <a:cs typeface="Times New Roman" panose="02020603050405020304" pitchFamily="18" charset="0"/>
              </a:rPr>
              <a:t>Lovisha</a:t>
            </a:r>
            <a:r>
              <a:rPr lang="en-US" sz="2400" b="1" dirty="0">
                <a:solidFill>
                  <a:schemeClr val="tx1"/>
                </a:solidFill>
                <a:latin typeface="Times New Roman" panose="02020603050405020304" pitchFamily="18" charset="0"/>
                <a:cs typeface="Times New Roman" panose="02020603050405020304" pitchFamily="18" charset="0"/>
              </a:rPr>
              <a:t> Goyal(2210991859)</a:t>
            </a:r>
          </a:p>
          <a:p>
            <a:pPr>
              <a:spcBef>
                <a:spcPts val="0"/>
              </a:spcBef>
            </a:pPr>
            <a:r>
              <a:rPr lang="en-US" sz="2400" b="1" dirty="0">
                <a:solidFill>
                  <a:schemeClr val="tx1"/>
                </a:solidFill>
                <a:latin typeface="Times New Roman" panose="02020603050405020304" pitchFamily="18" charset="0"/>
                <a:cs typeface="Times New Roman" panose="02020603050405020304" pitchFamily="18" charset="0"/>
              </a:rPr>
              <a:t> Samridhi Sharma(2210992244)</a:t>
            </a:r>
          </a:p>
          <a:p>
            <a:pPr>
              <a:spcBef>
                <a:spcPts val="0"/>
              </a:spcBef>
            </a:pPr>
            <a:endParaRPr lang="en-US" sz="2400" b="1" dirty="0">
              <a:solidFill>
                <a:schemeClr val="tx1"/>
              </a:solidFill>
              <a:latin typeface="Times New Roman" panose="02020603050405020304" pitchFamily="18" charset="0"/>
              <a:cs typeface="Times New Roman" panose="02020603050405020304" pitchFamily="18" charset="0"/>
            </a:endParaRPr>
          </a:p>
          <a:p>
            <a:pPr>
              <a:spcBef>
                <a:spcPts val="0"/>
              </a:spcBef>
            </a:pPr>
            <a:r>
              <a:rPr lang="en-US" sz="2400" b="1" dirty="0">
                <a:solidFill>
                  <a:schemeClr val="tx1"/>
                </a:solidFill>
                <a:latin typeface="Times New Roman" panose="02020603050405020304" pitchFamily="18" charset="0"/>
                <a:cs typeface="Times New Roman" panose="02020603050405020304" pitchFamily="18" charset="0"/>
              </a:rPr>
              <a:t>Supervised By: Dr. Preeti Saini</a:t>
            </a:r>
          </a:p>
        </p:txBody>
      </p:sp>
      <p:sp>
        <p:nvSpPr>
          <p:cNvPr id="4" name="TextBox 3">
            <a:extLst>
              <a:ext uri="{FF2B5EF4-FFF2-40B4-BE49-F238E27FC236}">
                <a16:creationId xmlns:a16="http://schemas.microsoft.com/office/drawing/2014/main" id="{BF47F536-A930-4B53-B749-A0E96B2D38AD}"/>
              </a:ext>
            </a:extLst>
          </p:cNvPr>
          <p:cNvSpPr txBox="1"/>
          <p:nvPr/>
        </p:nvSpPr>
        <p:spPr>
          <a:xfrm>
            <a:off x="1485900" y="5518973"/>
            <a:ext cx="6172200" cy="646331"/>
          </a:xfrm>
          <a:prstGeom prst="rect">
            <a:avLst/>
          </a:prstGeom>
          <a:noFill/>
        </p:spPr>
        <p:txBody>
          <a:bodyPr wrap="square" rtlCol="0">
            <a:spAutoFit/>
          </a:bodyPr>
          <a:lstStyle/>
          <a:p>
            <a:pPr algn="ctr"/>
            <a:r>
              <a:rPr lang="en-US" dirty="0">
                <a:solidFill>
                  <a:srgbClr val="FF0000"/>
                </a:solidFill>
                <a:latin typeface="Times New Roman" pitchFamily="18" charset="0"/>
                <a:cs typeface="Times New Roman" pitchFamily="18" charset="0"/>
              </a:rPr>
              <a:t>Department of Computer Science and Engineering</a:t>
            </a:r>
          </a:p>
          <a:p>
            <a:pPr algn="ctr"/>
            <a:r>
              <a:rPr lang="en-US" dirty="0">
                <a:solidFill>
                  <a:srgbClr val="FF0000"/>
                </a:solidFill>
                <a:latin typeface="Times New Roman" pitchFamily="18" charset="0"/>
                <a:cs typeface="Times New Roman" pitchFamily="18" charset="0"/>
              </a:rPr>
              <a:t>Chitkara University, Punjab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354BCD-21C3-BC82-6A5A-08C35641734E}"/>
              </a:ext>
            </a:extLst>
          </p:cNvPr>
          <p:cNvSpPr>
            <a:spLocks noGrp="1"/>
          </p:cNvSpPr>
          <p:nvPr>
            <p:ph type="title"/>
          </p:nvPr>
        </p:nvSpPr>
        <p:spPr/>
        <p:txBody>
          <a:bodyPr/>
          <a:lstStyle/>
          <a:p>
            <a:r>
              <a:rPr lang="en-IN" dirty="0"/>
              <a:t>Content</a:t>
            </a:r>
          </a:p>
        </p:txBody>
      </p:sp>
      <p:sp>
        <p:nvSpPr>
          <p:cNvPr id="5" name="Content Placeholder 4">
            <a:extLst>
              <a:ext uri="{FF2B5EF4-FFF2-40B4-BE49-F238E27FC236}">
                <a16:creationId xmlns:a16="http://schemas.microsoft.com/office/drawing/2014/main" id="{DC16DC5B-4104-4C41-896B-826BDF7B6437}"/>
              </a:ext>
            </a:extLst>
          </p:cNvPr>
          <p:cNvSpPr>
            <a:spLocks noGrp="1"/>
          </p:cNvSpPr>
          <p:nvPr>
            <p:ph idx="1"/>
          </p:nvPr>
        </p:nvSpPr>
        <p:spPr>
          <a:xfrm>
            <a:off x="390364" y="1268760"/>
            <a:ext cx="8363272" cy="5204867"/>
          </a:xfrm>
        </p:spPr>
        <p:txBody>
          <a:bodyPr/>
          <a:lstStyle/>
          <a:p>
            <a:pPr marL="457200" indent="-457200">
              <a:buAutoNum type="arabicParenR"/>
            </a:pPr>
            <a:r>
              <a:rPr lang="en-US" sz="2000" dirty="0"/>
              <a:t>Abstract</a:t>
            </a:r>
          </a:p>
          <a:p>
            <a:pPr marL="457200" indent="-457200">
              <a:buAutoNum type="arabicParenR"/>
            </a:pPr>
            <a:r>
              <a:rPr lang="en-US" sz="2000" dirty="0"/>
              <a:t>Introduction</a:t>
            </a:r>
          </a:p>
          <a:p>
            <a:pPr marL="457200" indent="-457200">
              <a:buAutoNum type="arabicParenR"/>
            </a:pPr>
            <a:r>
              <a:rPr lang="en-US" sz="2000" dirty="0"/>
              <a:t>Problem Statement</a:t>
            </a:r>
          </a:p>
          <a:p>
            <a:pPr marL="457200" indent="-457200">
              <a:buAutoNum type="arabicParenR"/>
            </a:pPr>
            <a:r>
              <a:rPr lang="en-US" sz="2000" dirty="0"/>
              <a:t>Objective</a:t>
            </a:r>
          </a:p>
          <a:p>
            <a:pPr marL="457200" indent="-457200">
              <a:buAutoNum type="arabicParenR"/>
            </a:pPr>
            <a:r>
              <a:rPr lang="en-US" sz="2000" dirty="0"/>
              <a:t>Significance</a:t>
            </a:r>
          </a:p>
          <a:p>
            <a:pPr marL="457200" indent="-457200">
              <a:buAutoNum type="arabicParenR"/>
            </a:pPr>
            <a:r>
              <a:rPr lang="en-US" sz="2000" dirty="0"/>
              <a:t>Scope &amp; Limitation</a:t>
            </a:r>
          </a:p>
          <a:p>
            <a:pPr marL="457200" indent="-457200">
              <a:buAutoNum type="arabicParenR"/>
            </a:pPr>
            <a:r>
              <a:rPr lang="en-US" sz="2000" dirty="0"/>
              <a:t>Use Case</a:t>
            </a:r>
          </a:p>
          <a:p>
            <a:pPr marL="457200" indent="-457200">
              <a:buAutoNum type="arabicParenR" startAt="8"/>
            </a:pPr>
            <a:r>
              <a:rPr lang="en-US" sz="2000" dirty="0"/>
              <a:t>Literature Survey</a:t>
            </a:r>
          </a:p>
          <a:p>
            <a:pPr marL="457200" indent="-457200">
              <a:buAutoNum type="arabicParenR" startAt="8"/>
            </a:pPr>
            <a:r>
              <a:rPr lang="en-IN" sz="2000" dirty="0"/>
              <a:t>Methodology</a:t>
            </a:r>
          </a:p>
          <a:p>
            <a:pPr marL="457200" indent="-457200">
              <a:buAutoNum type="arabicParenR" startAt="8"/>
            </a:pPr>
            <a:r>
              <a:rPr lang="en-IN" sz="2000" dirty="0"/>
              <a:t>Technology Stack</a:t>
            </a:r>
          </a:p>
          <a:p>
            <a:pPr marL="457200" indent="-457200">
              <a:buAutoNum type="arabicParenR" startAt="8"/>
            </a:pPr>
            <a:r>
              <a:rPr lang="en-IN" sz="2000" dirty="0"/>
              <a:t>Future Scope </a:t>
            </a:r>
          </a:p>
          <a:p>
            <a:pPr marL="457200" indent="-457200">
              <a:buAutoNum type="arabicParenR" startAt="8"/>
            </a:pPr>
            <a:r>
              <a:rPr lang="en-IN" sz="2000" dirty="0"/>
              <a:t>Conclusion</a:t>
            </a:r>
          </a:p>
          <a:p>
            <a:pPr marL="457200" indent="-457200">
              <a:buAutoNum type="arabicParenR" startAt="8"/>
            </a:pPr>
            <a:r>
              <a:rPr lang="en-IN" sz="2000" dirty="0"/>
              <a:t>References</a:t>
            </a:r>
          </a:p>
          <a:p>
            <a:pPr marL="457200" indent="-457200">
              <a:buAutoNum type="arabicParenR" startAt="8"/>
            </a:pPr>
            <a:r>
              <a:rPr lang="en-IN" sz="2000" dirty="0"/>
              <a:t>Acknowledgement</a:t>
            </a:r>
          </a:p>
        </p:txBody>
      </p:sp>
      <p:sp>
        <p:nvSpPr>
          <p:cNvPr id="6" name="Slide Number Placeholder 5"/>
          <p:cNvSpPr>
            <a:spLocks noGrp="1"/>
          </p:cNvSpPr>
          <p:nvPr>
            <p:ph type="sldNum" sz="quarter" idx="12"/>
          </p:nvPr>
        </p:nvSpPr>
        <p:spPr/>
        <p:txBody>
          <a:bodyPr/>
          <a:lstStyle/>
          <a:p>
            <a:fld id="{8BD8F058-9003-4658-AA47-7D4800AF7EA2}" type="slidenum">
              <a:rPr lang="en-US" smtClean="0"/>
              <a:pPr/>
              <a:t>2</a:t>
            </a:fld>
            <a:endParaRPr lang="en-US"/>
          </a:p>
        </p:txBody>
      </p:sp>
    </p:spTree>
    <p:extLst>
      <p:ext uri="{BB962C8B-B14F-4D97-AF65-F5344CB8AC3E}">
        <p14:creationId xmlns:p14="http://schemas.microsoft.com/office/powerpoint/2010/main" val="2719788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3565"/>
            <a:ext cx="5770984" cy="661139"/>
          </a:xfrm>
        </p:spPr>
        <p:txBody>
          <a:bodyPr/>
          <a:lstStyle/>
          <a:p>
            <a:pPr algn="l"/>
            <a:r>
              <a:rPr lang="en-US" b="1" dirty="0"/>
              <a:t>                  </a:t>
            </a:r>
            <a:br>
              <a:rPr lang="en-US" b="1" dirty="0"/>
            </a:br>
            <a:r>
              <a:rPr lang="en-US" b="1" dirty="0"/>
              <a:t>		   </a:t>
            </a:r>
            <a:r>
              <a:rPr lang="en-US" dirty="0"/>
              <a:t>Abstract</a:t>
            </a:r>
            <a:br>
              <a:rPr lang="en-US" b="1" dirty="0"/>
            </a:br>
            <a:endParaRPr lang="en-US" sz="3200" b="1" dirty="0">
              <a:solidFill>
                <a:schemeClr val="tx1"/>
              </a:solidFill>
            </a:endParaRPr>
          </a:p>
        </p:txBody>
      </p:sp>
      <p:sp>
        <p:nvSpPr>
          <p:cNvPr id="5" name="Slide Number Placeholder 4"/>
          <p:cNvSpPr>
            <a:spLocks noGrp="1"/>
          </p:cNvSpPr>
          <p:nvPr>
            <p:ph type="sldNum" sz="quarter" idx="12"/>
          </p:nvPr>
        </p:nvSpPr>
        <p:spPr/>
        <p:txBody>
          <a:bodyPr/>
          <a:lstStyle/>
          <a:p>
            <a:fld id="{8BD8F058-9003-4658-AA47-7D4800AF7EA2}" type="slidenum">
              <a:rPr lang="en-US" smtClean="0"/>
              <a:pPr/>
              <a:t>3</a:t>
            </a:fld>
            <a:endParaRPr lang="en-US"/>
          </a:p>
        </p:txBody>
      </p:sp>
      <p:sp>
        <p:nvSpPr>
          <p:cNvPr id="79" name="TextBox 78">
            <a:extLst>
              <a:ext uri="{FF2B5EF4-FFF2-40B4-BE49-F238E27FC236}">
                <a16:creationId xmlns:a16="http://schemas.microsoft.com/office/drawing/2014/main" id="{ABB10960-93CC-B2EE-8AEC-D3EEB4690BFF}"/>
              </a:ext>
            </a:extLst>
          </p:cNvPr>
          <p:cNvSpPr txBox="1"/>
          <p:nvPr/>
        </p:nvSpPr>
        <p:spPr>
          <a:xfrm>
            <a:off x="457200" y="1268760"/>
            <a:ext cx="8229600" cy="501675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Decision Personality Twin (DPT) is an intelligent adaptive system designed to improve personalization by understanding how users make decisions, not just what they prefer. Unlike traditional systems, it analyzes user behavior such as decision time, scrolling patterns, and exploration activity to model decision-making styles.</a:t>
            </a:r>
          </a:p>
          <a:p>
            <a:r>
              <a:rPr lang="en-US" sz="2000" dirty="0">
                <a:latin typeface="Times New Roman" panose="02020603050405020304" pitchFamily="18" charset="0"/>
                <a:cs typeface="Times New Roman" panose="02020603050405020304" pitchFamily="18" charset="0"/>
              </a:rPr>
              <a:t>Using machine learning techniques like K-Means clustering and Random Forest, the system classifies users into different personality types such as fast, analytical, exploratory, and risk-averse. Based on these insights, it dynamically adjusts search results and interface complexity to provide a more personalized and efficient experience.</a:t>
            </a:r>
          </a:p>
          <a:p>
            <a:r>
              <a:rPr lang="en-US" sz="2000" dirty="0">
                <a:latin typeface="Times New Roman" panose="02020603050405020304" pitchFamily="18" charset="0"/>
                <a:cs typeface="Times New Roman" panose="02020603050405020304" pitchFamily="18" charset="0"/>
              </a:rPr>
              <a:t>Built using technologies like React, Node.js, MongoDB, and Python, the system demonstrates improved performance by reducing task completion time, minimizing user effort, and increasing overall satisfaction. This approach introduces a new level of behavioral intelligence in adaptive systems, making them more user-centric and effective.</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3244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28CF0-01CC-30C4-7960-1850C27A3EE3}"/>
              </a:ext>
            </a:extLst>
          </p:cNvPr>
          <p:cNvSpPr>
            <a:spLocks noGrp="1"/>
          </p:cNvSpPr>
          <p:nvPr>
            <p:ph type="title"/>
          </p:nvPr>
        </p:nvSpPr>
        <p:spPr>
          <a:xfrm>
            <a:off x="0" y="136525"/>
            <a:ext cx="6732240" cy="628180"/>
          </a:xfrm>
        </p:spPr>
        <p:txBody>
          <a:bodyPr/>
          <a:lstStyle/>
          <a:p>
            <a:r>
              <a:rPr lang="en-IN" dirty="0"/>
              <a:t>  Introduction</a:t>
            </a:r>
          </a:p>
        </p:txBody>
      </p:sp>
      <p:sp>
        <p:nvSpPr>
          <p:cNvPr id="3" name="Content Placeholder 2">
            <a:extLst>
              <a:ext uri="{FF2B5EF4-FFF2-40B4-BE49-F238E27FC236}">
                <a16:creationId xmlns:a16="http://schemas.microsoft.com/office/drawing/2014/main" id="{63792BD2-0830-297F-DBA4-86CBBF81B225}"/>
              </a:ext>
            </a:extLst>
          </p:cNvPr>
          <p:cNvSpPr>
            <a:spLocks noGrp="1"/>
          </p:cNvSpPr>
          <p:nvPr>
            <p:ph idx="1"/>
          </p:nvPr>
        </p:nvSpPr>
        <p:spPr/>
        <p:txBody>
          <a:bodyPr/>
          <a:lstStyle/>
          <a:p>
            <a:r>
              <a:rPr lang="en-US" sz="2000" dirty="0"/>
              <a:t>Modern software systems such as search engines, e-learning platforms, and recommendation systems heavily rely on personalization to enhance user experience. Most existing approaches focus on analyzing user preferences based on past interactions like clicks, ratings, and browsing history. While effective to some extent, these systems fail to capture an important aspect of human behavior—how users actually make decisions.</a:t>
            </a:r>
          </a:p>
          <a:p>
            <a:endParaRPr lang="en-US" sz="2000" dirty="0"/>
          </a:p>
          <a:p>
            <a:r>
              <a:rPr lang="en-US" sz="2000" dirty="0"/>
              <a:t>In reality, users differ significantly in their decision-making styles. Some users make quick decisions with minimal exploration, while others carefully analyze multiple options before selecting one. These variations influence how users interact with systems, process information, and respond to uncertainty. Ignoring such behavioral differences often leads to inefficient interactions, increased cognitive load, and reduced user satisfaction.</a:t>
            </a:r>
          </a:p>
          <a:p>
            <a:pPr marL="0" indent="0">
              <a:buNone/>
            </a:pPr>
            <a:endParaRPr lang="en-US" sz="2000" dirty="0"/>
          </a:p>
          <a:p>
            <a:pPr marL="0" indent="0">
              <a:buNone/>
            </a:pPr>
            <a:endParaRPr lang="en-IN" dirty="0"/>
          </a:p>
        </p:txBody>
      </p:sp>
      <p:sp>
        <p:nvSpPr>
          <p:cNvPr id="4" name="Footer Placeholder 3">
            <a:extLst>
              <a:ext uri="{FF2B5EF4-FFF2-40B4-BE49-F238E27FC236}">
                <a16:creationId xmlns:a16="http://schemas.microsoft.com/office/drawing/2014/main" id="{3CC50AC2-7FDD-F153-0947-D3CA24DB9945}"/>
              </a:ext>
            </a:extLst>
          </p:cNvPr>
          <p:cNvSpPr>
            <a:spLocks noGrp="1"/>
          </p:cNvSpPr>
          <p:nvPr>
            <p:ph type="ftr" sz="quarter" idx="11"/>
          </p:nvPr>
        </p:nvSpPr>
        <p:spPr/>
        <p:txBody>
          <a:bodyPr/>
          <a:lstStyle/>
          <a:p>
            <a:pPr>
              <a:defRPr/>
            </a:pPr>
            <a:r>
              <a:rPr lang="en-US"/>
              <a:t>Faculty Name - GroupNo</a:t>
            </a:r>
          </a:p>
        </p:txBody>
      </p:sp>
      <p:sp>
        <p:nvSpPr>
          <p:cNvPr id="5" name="Slide Number Placeholder 4">
            <a:extLst>
              <a:ext uri="{FF2B5EF4-FFF2-40B4-BE49-F238E27FC236}">
                <a16:creationId xmlns:a16="http://schemas.microsoft.com/office/drawing/2014/main" id="{A297266D-C60F-0D33-03F3-7AC5755BA881}"/>
              </a:ext>
            </a:extLst>
          </p:cNvPr>
          <p:cNvSpPr>
            <a:spLocks noGrp="1"/>
          </p:cNvSpPr>
          <p:nvPr>
            <p:ph type="sldNum" sz="quarter" idx="12"/>
          </p:nvPr>
        </p:nvSpPr>
        <p:spPr/>
        <p:txBody>
          <a:bodyPr/>
          <a:lstStyle/>
          <a:p>
            <a:fld id="{8BD8F058-9003-4658-AA47-7D4800AF7EA2}" type="slidenum">
              <a:rPr lang="en-US" smtClean="0"/>
              <a:pPr/>
              <a:t>4</a:t>
            </a:fld>
            <a:endParaRPr lang="en-US"/>
          </a:p>
        </p:txBody>
      </p:sp>
    </p:spTree>
    <p:extLst>
      <p:ext uri="{BB962C8B-B14F-4D97-AF65-F5344CB8AC3E}">
        <p14:creationId xmlns:p14="http://schemas.microsoft.com/office/powerpoint/2010/main" val="2332566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BD8F058-9003-4658-AA47-7D4800AF7EA2}" type="slidenum">
              <a:rPr lang="en-US" smtClean="0"/>
              <a:pPr/>
              <a:t>5</a:t>
            </a:fld>
            <a:endParaRPr lang="en-US"/>
          </a:p>
        </p:txBody>
      </p:sp>
      <p:sp>
        <p:nvSpPr>
          <p:cNvPr id="7" name="Title 6">
            <a:extLst>
              <a:ext uri="{FF2B5EF4-FFF2-40B4-BE49-F238E27FC236}">
                <a16:creationId xmlns:a16="http://schemas.microsoft.com/office/drawing/2014/main" id="{A4DCBC2F-0A93-9E6C-C1C1-627858702C25}"/>
              </a:ext>
            </a:extLst>
          </p:cNvPr>
          <p:cNvSpPr>
            <a:spLocks noGrp="1"/>
          </p:cNvSpPr>
          <p:nvPr>
            <p:ph type="title"/>
          </p:nvPr>
        </p:nvSpPr>
        <p:spPr/>
        <p:txBody>
          <a:bodyPr/>
          <a:lstStyle/>
          <a:p>
            <a:r>
              <a:rPr lang="en-IN" b="1" dirty="0"/>
              <a:t>      </a:t>
            </a:r>
            <a:r>
              <a:rPr lang="en-IN" dirty="0"/>
              <a:t>Problem Statement</a:t>
            </a:r>
          </a:p>
        </p:txBody>
      </p:sp>
      <p:sp>
        <p:nvSpPr>
          <p:cNvPr id="8" name="TextBox 7">
            <a:extLst>
              <a:ext uri="{FF2B5EF4-FFF2-40B4-BE49-F238E27FC236}">
                <a16:creationId xmlns:a16="http://schemas.microsoft.com/office/drawing/2014/main" id="{A538F7A5-0658-D8C3-CACB-D5374BC29386}"/>
              </a:ext>
            </a:extLst>
          </p:cNvPr>
          <p:cNvSpPr txBox="1"/>
          <p:nvPr/>
        </p:nvSpPr>
        <p:spPr>
          <a:xfrm>
            <a:off x="480552" y="1124744"/>
            <a:ext cx="8219256" cy="594008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In modern software systems, personalization is primarily based on user preferences such as past clicks, browsing history, and ratings. While these approaches improve content relevance, they fail to capture an important aspect of user behavior—how users actually make decisions. Different users exhibit different decision-making styles; some make quick decisions with minimal exploration, while others carefully analyze multiple options before selecting one.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Existing systems do not adapt to these behavioral differences and treat all users in a similar manner. This leads to inefficient interactions, increased cognitive load, unnecessary clicks, and longer task completion times. As a result, users may experience confusion, decision fatigue, and reduced satisfaction.</a:t>
            </a:r>
          </a:p>
          <a:p>
            <a:r>
              <a:rPr lang="en-US" sz="2000" dirty="0">
                <a:latin typeface="Times New Roman" panose="02020603050405020304" pitchFamily="18" charset="0"/>
                <a:cs typeface="Times New Roman" panose="02020603050405020304" pitchFamily="18" charset="0"/>
              </a:rPr>
              <a:t>Therefore, there is a need for an intelligent and adaptive system that not only understands user preferences but also models their decision-making behavior. Such a system can provide more personalized, efficient, and user-centric experiences by dynamically adjusting its responses based on individual user behavior.</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25847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07202-9131-77DD-7F9F-E414EC2413BC}"/>
              </a:ext>
            </a:extLst>
          </p:cNvPr>
          <p:cNvSpPr>
            <a:spLocks noGrp="1"/>
          </p:cNvSpPr>
          <p:nvPr>
            <p:ph type="ctrTitle"/>
          </p:nvPr>
        </p:nvSpPr>
        <p:spPr/>
        <p:txBody>
          <a:bodyPr/>
          <a:lstStyle/>
          <a:p>
            <a:r>
              <a:rPr lang="en-IN" b="0" dirty="0"/>
              <a:t>                  Objective</a:t>
            </a:r>
          </a:p>
        </p:txBody>
      </p:sp>
      <p:sp>
        <p:nvSpPr>
          <p:cNvPr id="3" name="Subtitle 2">
            <a:extLst>
              <a:ext uri="{FF2B5EF4-FFF2-40B4-BE49-F238E27FC236}">
                <a16:creationId xmlns:a16="http://schemas.microsoft.com/office/drawing/2014/main" id="{4E5608DD-FDCF-A002-D3F3-243463780296}"/>
              </a:ext>
            </a:extLst>
          </p:cNvPr>
          <p:cNvSpPr>
            <a:spLocks noGrp="1"/>
          </p:cNvSpPr>
          <p:nvPr>
            <p:ph type="subTitle" idx="1"/>
          </p:nvPr>
        </p:nvSpPr>
        <p:spPr>
          <a:xfrm>
            <a:off x="533400" y="980728"/>
            <a:ext cx="8153400" cy="5115272"/>
          </a:xfrm>
        </p:spPr>
        <p:txBody>
          <a:bodyPr/>
          <a:lstStyle/>
          <a:p>
            <a:pPr algn="l"/>
            <a:r>
              <a:rPr lang="en-US" sz="2000" dirty="0">
                <a:solidFill>
                  <a:schemeClr val="tx1"/>
                </a:solidFill>
                <a:latin typeface="Times New Roman" panose="02020603050405020304" pitchFamily="18" charset="0"/>
                <a:cs typeface="Times New Roman" panose="02020603050405020304" pitchFamily="18" charset="0"/>
              </a:rPr>
              <a:t>The main objective of this research is to enhance personalization in software systems by understanding and modeling user decision-making behavior instead of relying only on user preferences. The study aims to design an intelligent system that adapts dynamically based on how users interact and make choices.</a:t>
            </a:r>
          </a:p>
          <a:p>
            <a:pPr algn="l"/>
            <a:r>
              <a:rPr lang="en-US" sz="2000" dirty="0">
                <a:solidFill>
                  <a:schemeClr val="tx1"/>
                </a:solidFill>
                <a:latin typeface="Times New Roman" panose="02020603050405020304" pitchFamily="18" charset="0"/>
                <a:cs typeface="Times New Roman" panose="02020603050405020304" pitchFamily="18" charset="0"/>
              </a:rPr>
              <a:t>The specific objectives of this work include developing a </a:t>
            </a:r>
            <a:r>
              <a:rPr lang="en-US" sz="2000" b="1" dirty="0">
                <a:solidFill>
                  <a:schemeClr val="tx1"/>
                </a:solidFill>
                <a:latin typeface="Times New Roman" panose="02020603050405020304" pitchFamily="18" charset="0"/>
                <a:cs typeface="Times New Roman" panose="02020603050405020304" pitchFamily="18" charset="0"/>
              </a:rPr>
              <a:t>Decision Personality Twin (DPT)</a:t>
            </a:r>
            <a:r>
              <a:rPr lang="en-US" sz="2000" dirty="0">
                <a:solidFill>
                  <a:schemeClr val="tx1"/>
                </a:solidFill>
                <a:latin typeface="Times New Roman" panose="02020603050405020304" pitchFamily="18" charset="0"/>
                <a:cs typeface="Times New Roman" panose="02020603050405020304" pitchFamily="18" charset="0"/>
              </a:rPr>
              <a:t> framework that captures user interaction patterns such as decision time, scrolling behavior, and exploration activity. Another objective is to construct a </a:t>
            </a:r>
            <a:r>
              <a:rPr lang="en-US" sz="2000" b="1" dirty="0">
                <a:solidFill>
                  <a:schemeClr val="tx1"/>
                </a:solidFill>
                <a:latin typeface="Times New Roman" panose="02020603050405020304" pitchFamily="18" charset="0"/>
                <a:cs typeface="Times New Roman" panose="02020603050405020304" pitchFamily="18" charset="0"/>
              </a:rPr>
              <a:t>Decision Signature Vector (DSV)</a:t>
            </a:r>
            <a:r>
              <a:rPr lang="en-US" sz="2000" dirty="0">
                <a:solidFill>
                  <a:schemeClr val="tx1"/>
                </a:solidFill>
                <a:latin typeface="Times New Roman" panose="02020603050405020304" pitchFamily="18" charset="0"/>
                <a:cs typeface="Times New Roman" panose="02020603050405020304" pitchFamily="18" charset="0"/>
              </a:rPr>
              <a:t> to represent these behavioral features in a structured form.</a:t>
            </a:r>
          </a:p>
          <a:p>
            <a:pPr algn="l"/>
            <a:r>
              <a:rPr lang="en-US" sz="2000" dirty="0">
                <a:solidFill>
                  <a:schemeClr val="tx1"/>
                </a:solidFill>
                <a:latin typeface="Times New Roman" panose="02020603050405020304" pitchFamily="18" charset="0"/>
                <a:cs typeface="Times New Roman" panose="02020603050405020304" pitchFamily="18" charset="0"/>
              </a:rPr>
              <a:t>The research also focuses on applying machine learning techniques like </a:t>
            </a:r>
            <a:r>
              <a:rPr lang="en-US" sz="2000" b="1" dirty="0">
                <a:solidFill>
                  <a:schemeClr val="tx1"/>
                </a:solidFill>
                <a:latin typeface="Times New Roman" panose="02020603050405020304" pitchFamily="18" charset="0"/>
                <a:cs typeface="Times New Roman" panose="02020603050405020304" pitchFamily="18" charset="0"/>
              </a:rPr>
              <a:t>K-Means clustering</a:t>
            </a:r>
            <a:r>
              <a:rPr lang="en-US" sz="2000" dirty="0">
                <a:solidFill>
                  <a:schemeClr val="tx1"/>
                </a:solidFill>
                <a:latin typeface="Times New Roman" panose="02020603050405020304" pitchFamily="18" charset="0"/>
                <a:cs typeface="Times New Roman" panose="02020603050405020304" pitchFamily="18" charset="0"/>
              </a:rPr>
              <a:t> and </a:t>
            </a:r>
            <a:r>
              <a:rPr lang="en-US" sz="2000" b="1" dirty="0">
                <a:solidFill>
                  <a:schemeClr val="tx1"/>
                </a:solidFill>
                <a:latin typeface="Times New Roman" panose="02020603050405020304" pitchFamily="18" charset="0"/>
                <a:cs typeface="Times New Roman" panose="02020603050405020304" pitchFamily="18" charset="0"/>
              </a:rPr>
              <a:t>Random Forest classification</a:t>
            </a:r>
            <a:r>
              <a:rPr lang="en-US" sz="2000" dirty="0">
                <a:solidFill>
                  <a:schemeClr val="tx1"/>
                </a:solidFill>
                <a:latin typeface="Times New Roman" panose="02020603050405020304" pitchFamily="18" charset="0"/>
                <a:cs typeface="Times New Roman" panose="02020603050405020304" pitchFamily="18" charset="0"/>
              </a:rPr>
              <a:t> to categorize users into different decision personality types, such as fast, analytical, exploratory, and risk-averse. Based on these classifications, the system aims to dynamically adjust search results and interface design to improve efficiency.</a:t>
            </a:r>
          </a:p>
          <a:p>
            <a:pPr algn="l"/>
            <a:endParaRPr lang="en-IN" sz="2000" dirty="0">
              <a:solidFill>
                <a:schemeClr val="tx1"/>
              </a:solidFill>
            </a:endParaRPr>
          </a:p>
        </p:txBody>
      </p:sp>
    </p:spTree>
    <p:extLst>
      <p:ext uri="{BB962C8B-B14F-4D97-AF65-F5344CB8AC3E}">
        <p14:creationId xmlns:p14="http://schemas.microsoft.com/office/powerpoint/2010/main" val="882652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904E-7884-F615-9EB6-47EBBF654572}"/>
              </a:ext>
            </a:extLst>
          </p:cNvPr>
          <p:cNvSpPr>
            <a:spLocks noGrp="1"/>
          </p:cNvSpPr>
          <p:nvPr>
            <p:ph type="ctrTitle"/>
          </p:nvPr>
        </p:nvSpPr>
        <p:spPr/>
        <p:txBody>
          <a:bodyPr/>
          <a:lstStyle/>
          <a:p>
            <a:r>
              <a:rPr lang="en-IN" dirty="0"/>
              <a:t>               </a:t>
            </a:r>
            <a:r>
              <a:rPr lang="en-IN" b="0" dirty="0"/>
              <a:t>Significance</a:t>
            </a:r>
          </a:p>
        </p:txBody>
      </p:sp>
      <p:sp>
        <p:nvSpPr>
          <p:cNvPr id="3" name="Subtitle 2">
            <a:extLst>
              <a:ext uri="{FF2B5EF4-FFF2-40B4-BE49-F238E27FC236}">
                <a16:creationId xmlns:a16="http://schemas.microsoft.com/office/drawing/2014/main" id="{F9540E0E-7CA2-343C-6DDB-62405F084AF7}"/>
              </a:ext>
            </a:extLst>
          </p:cNvPr>
          <p:cNvSpPr>
            <a:spLocks noGrp="1"/>
          </p:cNvSpPr>
          <p:nvPr>
            <p:ph type="subTitle" idx="1"/>
          </p:nvPr>
        </p:nvSpPr>
        <p:spPr>
          <a:xfrm>
            <a:off x="611560" y="914401"/>
            <a:ext cx="8153400" cy="5153744"/>
          </a:xfrm>
        </p:spPr>
        <p:txBody>
          <a:bodyPr/>
          <a:lstStyle/>
          <a:p>
            <a:pPr algn="l"/>
            <a:r>
              <a:rPr lang="en-US" sz="2000" dirty="0">
                <a:solidFill>
                  <a:schemeClr val="tx1"/>
                </a:solidFill>
                <a:latin typeface="Times New Roman" panose="02020603050405020304" pitchFamily="18" charset="0"/>
                <a:cs typeface="Times New Roman" panose="02020603050405020304" pitchFamily="18" charset="0"/>
              </a:rPr>
              <a:t>This research is significant because it introduces a new approach to personalization by focusing on </a:t>
            </a:r>
            <a:r>
              <a:rPr lang="en-US" sz="2000" b="1" dirty="0">
                <a:solidFill>
                  <a:schemeClr val="tx1"/>
                </a:solidFill>
                <a:latin typeface="Times New Roman" panose="02020603050405020304" pitchFamily="18" charset="0"/>
                <a:cs typeface="Times New Roman" panose="02020603050405020304" pitchFamily="18" charset="0"/>
              </a:rPr>
              <a:t>user decision-making behavior</a:t>
            </a:r>
            <a:r>
              <a:rPr lang="en-US" sz="2000" dirty="0">
                <a:solidFill>
                  <a:schemeClr val="tx1"/>
                </a:solidFill>
                <a:latin typeface="Times New Roman" panose="02020603050405020304" pitchFamily="18" charset="0"/>
                <a:cs typeface="Times New Roman" panose="02020603050405020304" pitchFamily="18" charset="0"/>
              </a:rPr>
              <a:t> rather than only user preferences. Traditional systems recommend content based on what users like, but they fail to understand how users think and make choices. By incorporating behavioral patterns such as decision time, scrolling behavior, and exploration, this study adds a deeper level of intelligence to adaptive systems.</a:t>
            </a:r>
          </a:p>
          <a:p>
            <a:pPr algn="l"/>
            <a:r>
              <a:rPr lang="en-US" sz="2000" dirty="0">
                <a:solidFill>
                  <a:schemeClr val="tx1"/>
                </a:solidFill>
                <a:latin typeface="Times New Roman" panose="02020603050405020304" pitchFamily="18" charset="0"/>
                <a:cs typeface="Times New Roman" panose="02020603050405020304" pitchFamily="18" charset="0"/>
              </a:rPr>
              <a:t>The proposed </a:t>
            </a:r>
            <a:r>
              <a:rPr lang="en-US" sz="2000" b="1" dirty="0">
                <a:solidFill>
                  <a:schemeClr val="tx1"/>
                </a:solidFill>
                <a:latin typeface="Times New Roman" panose="02020603050405020304" pitchFamily="18" charset="0"/>
                <a:cs typeface="Times New Roman" panose="02020603050405020304" pitchFamily="18" charset="0"/>
              </a:rPr>
              <a:t>Decision Personality Twin (DPT)</a:t>
            </a:r>
            <a:r>
              <a:rPr lang="en-US" sz="2000" dirty="0">
                <a:solidFill>
                  <a:schemeClr val="tx1"/>
                </a:solidFill>
                <a:latin typeface="Times New Roman" panose="02020603050405020304" pitchFamily="18" charset="0"/>
                <a:cs typeface="Times New Roman" panose="02020603050405020304" pitchFamily="18" charset="0"/>
              </a:rPr>
              <a:t> framework helps in creating more </a:t>
            </a:r>
            <a:r>
              <a:rPr lang="en-US" sz="2000" b="1" dirty="0">
                <a:solidFill>
                  <a:schemeClr val="tx1"/>
                </a:solidFill>
                <a:latin typeface="Times New Roman" panose="02020603050405020304" pitchFamily="18" charset="0"/>
                <a:cs typeface="Times New Roman" panose="02020603050405020304" pitchFamily="18" charset="0"/>
              </a:rPr>
              <a:t>user-centric and intelligent systems</a:t>
            </a:r>
            <a:r>
              <a:rPr lang="en-US" sz="2000" dirty="0">
                <a:solidFill>
                  <a:schemeClr val="tx1"/>
                </a:solidFill>
                <a:latin typeface="Times New Roman" panose="02020603050405020304" pitchFamily="18" charset="0"/>
                <a:cs typeface="Times New Roman" panose="02020603050405020304" pitchFamily="18" charset="0"/>
              </a:rPr>
              <a:t> that can dynamically adjust according to individual user behavior. This leads to improved efficiency, reduced cognitive load, and a more satisfying user experience.</a:t>
            </a:r>
          </a:p>
          <a:p>
            <a:pPr algn="l"/>
            <a:r>
              <a:rPr lang="en-US" sz="2000" dirty="0">
                <a:solidFill>
                  <a:schemeClr val="tx1"/>
                </a:solidFill>
                <a:latin typeface="Times New Roman" panose="02020603050405020304" pitchFamily="18" charset="0"/>
                <a:cs typeface="Times New Roman" panose="02020603050405020304" pitchFamily="18" charset="0"/>
              </a:rPr>
              <a:t>Additionally, this research bridges the gap between </a:t>
            </a:r>
            <a:r>
              <a:rPr lang="en-US" sz="2000" b="1" dirty="0">
                <a:solidFill>
                  <a:schemeClr val="tx1"/>
                </a:solidFill>
                <a:latin typeface="Times New Roman" panose="02020603050405020304" pitchFamily="18" charset="0"/>
                <a:cs typeface="Times New Roman" panose="02020603050405020304" pitchFamily="18" charset="0"/>
              </a:rPr>
              <a:t>Artificial Intelligence, Human-Computer Interaction, and Cognitive Modeling</a:t>
            </a:r>
            <a:r>
              <a:rPr lang="en-US" sz="2000" dirty="0">
                <a:solidFill>
                  <a:schemeClr val="tx1"/>
                </a:solidFill>
                <a:latin typeface="Times New Roman" panose="02020603050405020304" pitchFamily="18" charset="0"/>
                <a:cs typeface="Times New Roman" panose="02020603050405020304" pitchFamily="18" charset="0"/>
              </a:rPr>
              <a:t>, making systems more psychologically aware. The findings of this study can be applied in various domains such as </a:t>
            </a:r>
            <a:r>
              <a:rPr lang="en-US" sz="2000" b="1" dirty="0">
                <a:solidFill>
                  <a:schemeClr val="tx1"/>
                </a:solidFill>
                <a:latin typeface="Times New Roman" panose="02020603050405020304" pitchFamily="18" charset="0"/>
                <a:cs typeface="Times New Roman" panose="02020603050405020304" pitchFamily="18" charset="0"/>
              </a:rPr>
              <a:t>search engines, e-learning platforms, recommendation systems, healthcare applications, and intelligent assistants</a:t>
            </a:r>
            <a:r>
              <a:rPr lang="en-US" sz="2000" dirty="0">
                <a:solidFill>
                  <a:schemeClr val="tx1"/>
                </a:solidFill>
                <a:latin typeface="Times New Roman" panose="02020603050405020304" pitchFamily="18" charset="0"/>
                <a:cs typeface="Times New Roman" panose="02020603050405020304" pitchFamily="18" charset="0"/>
              </a:rPr>
              <a:t>.</a:t>
            </a:r>
          </a:p>
          <a:p>
            <a:pPr algn="l"/>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4068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2518E-CCD5-C22D-605A-CB29AF756951}"/>
              </a:ext>
            </a:extLst>
          </p:cNvPr>
          <p:cNvSpPr>
            <a:spLocks noGrp="1"/>
          </p:cNvSpPr>
          <p:nvPr>
            <p:ph type="title"/>
          </p:nvPr>
        </p:nvSpPr>
        <p:spPr/>
        <p:txBody>
          <a:bodyPr/>
          <a:lstStyle/>
          <a:p>
            <a:r>
              <a:rPr lang="en-IN" b="1" dirty="0"/>
              <a:t>       </a:t>
            </a:r>
            <a:r>
              <a:rPr lang="en-IN" dirty="0"/>
              <a:t>Scope &amp; Limitations</a:t>
            </a:r>
          </a:p>
        </p:txBody>
      </p:sp>
      <p:sp>
        <p:nvSpPr>
          <p:cNvPr id="3" name="Content Placeholder 2">
            <a:extLst>
              <a:ext uri="{FF2B5EF4-FFF2-40B4-BE49-F238E27FC236}">
                <a16:creationId xmlns:a16="http://schemas.microsoft.com/office/drawing/2014/main" id="{F426009D-7CC7-329C-A6D6-DE2A38310CF0}"/>
              </a:ext>
            </a:extLst>
          </p:cNvPr>
          <p:cNvSpPr>
            <a:spLocks noGrp="1"/>
          </p:cNvSpPr>
          <p:nvPr>
            <p:ph idx="1"/>
          </p:nvPr>
        </p:nvSpPr>
        <p:spPr>
          <a:xfrm>
            <a:off x="457200" y="980727"/>
            <a:ext cx="8229600" cy="5375623"/>
          </a:xfrm>
        </p:spPr>
        <p:txBody>
          <a:bodyPr/>
          <a:lstStyle/>
          <a:p>
            <a:pPr marL="0" indent="0">
              <a:buNone/>
            </a:pPr>
            <a:r>
              <a:rPr lang="en-IN" sz="2000" b="1" dirty="0"/>
              <a:t>Scope</a:t>
            </a:r>
          </a:p>
          <a:p>
            <a:r>
              <a:rPr lang="en-US" sz="2000" dirty="0"/>
              <a:t>Supports adaptive personalization across domains such as search engines, e-learning platforms, and recommendation systems.</a:t>
            </a:r>
          </a:p>
          <a:p>
            <a:r>
              <a:rPr lang="en-US" sz="2000" dirty="0"/>
              <a:t>Analyzes user behavior including decision time, scrolling patterns, and interaction depth.</a:t>
            </a:r>
          </a:p>
          <a:p>
            <a:r>
              <a:rPr lang="en-US" sz="2000" dirty="0"/>
              <a:t>Uses machine learning models to classify users into different decision personality types.</a:t>
            </a:r>
          </a:p>
          <a:p>
            <a:endParaRPr lang="en-IN" sz="2000" dirty="0"/>
          </a:p>
          <a:p>
            <a:pPr marL="0" indent="0">
              <a:buNone/>
            </a:pPr>
            <a:r>
              <a:rPr lang="en-IN" sz="2000" b="1" dirty="0"/>
              <a:t>Limitations</a:t>
            </a:r>
          </a:p>
          <a:p>
            <a:r>
              <a:rPr lang="en-US" sz="2000" dirty="0"/>
              <a:t>Uses simulated datasets instead of real-world user interaction data in the current implementation. </a:t>
            </a:r>
          </a:p>
          <a:p>
            <a:r>
              <a:rPr lang="en-US" sz="2000" dirty="0"/>
              <a:t>Accuracy of personality classification depends on quality and completeness of behavioral data. </a:t>
            </a:r>
          </a:p>
          <a:p>
            <a:r>
              <a:rPr lang="en-US" sz="2000" dirty="0"/>
              <a:t>Limited scalability due to use of basic machine learning models.</a:t>
            </a:r>
            <a:endParaRPr lang="en-IN" sz="2000" dirty="0"/>
          </a:p>
        </p:txBody>
      </p:sp>
      <p:sp>
        <p:nvSpPr>
          <p:cNvPr id="5" name="Slide Number Placeholder 4">
            <a:extLst>
              <a:ext uri="{FF2B5EF4-FFF2-40B4-BE49-F238E27FC236}">
                <a16:creationId xmlns:a16="http://schemas.microsoft.com/office/drawing/2014/main" id="{C7D38E67-04CF-6199-19D3-90DD70843983}"/>
              </a:ext>
            </a:extLst>
          </p:cNvPr>
          <p:cNvSpPr>
            <a:spLocks noGrp="1"/>
          </p:cNvSpPr>
          <p:nvPr>
            <p:ph type="sldNum" sz="quarter" idx="12"/>
          </p:nvPr>
        </p:nvSpPr>
        <p:spPr/>
        <p:txBody>
          <a:bodyPr/>
          <a:lstStyle/>
          <a:p>
            <a:fld id="{8BD8F058-9003-4658-AA47-7D4800AF7EA2}" type="slidenum">
              <a:rPr lang="en-US" smtClean="0"/>
              <a:pPr/>
              <a:t>8</a:t>
            </a:fld>
            <a:endParaRPr lang="en-US"/>
          </a:p>
        </p:txBody>
      </p:sp>
    </p:spTree>
    <p:extLst>
      <p:ext uri="{BB962C8B-B14F-4D97-AF65-F5344CB8AC3E}">
        <p14:creationId xmlns:p14="http://schemas.microsoft.com/office/powerpoint/2010/main" val="1826301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41DEC-858F-D6F1-3659-00D6C435C557}"/>
              </a:ext>
            </a:extLst>
          </p:cNvPr>
          <p:cNvSpPr>
            <a:spLocks noGrp="1"/>
          </p:cNvSpPr>
          <p:nvPr>
            <p:ph type="title"/>
          </p:nvPr>
        </p:nvSpPr>
        <p:spPr>
          <a:xfrm>
            <a:off x="0" y="0"/>
            <a:ext cx="6477000" cy="912814"/>
          </a:xfrm>
        </p:spPr>
        <p:txBody>
          <a:bodyPr/>
          <a:lstStyle/>
          <a:p>
            <a:r>
              <a:rPr lang="en-IN" b="1" dirty="0"/>
              <a:t>    </a:t>
            </a:r>
            <a:r>
              <a:rPr lang="en-IN" dirty="0"/>
              <a:t>Use Cases</a:t>
            </a:r>
          </a:p>
        </p:txBody>
      </p:sp>
      <p:sp>
        <p:nvSpPr>
          <p:cNvPr id="4" name="Footer Placeholder 3">
            <a:extLst>
              <a:ext uri="{FF2B5EF4-FFF2-40B4-BE49-F238E27FC236}">
                <a16:creationId xmlns:a16="http://schemas.microsoft.com/office/drawing/2014/main" id="{5CB577EB-7EEA-D99A-0D95-750FA8856EC1}"/>
              </a:ext>
            </a:extLst>
          </p:cNvPr>
          <p:cNvSpPr>
            <a:spLocks noGrp="1"/>
          </p:cNvSpPr>
          <p:nvPr>
            <p:ph type="ftr" sz="quarter" idx="11"/>
          </p:nvPr>
        </p:nvSpPr>
        <p:spPr/>
        <p:txBody>
          <a:bodyPr/>
          <a:lstStyle/>
          <a:p>
            <a:pPr>
              <a:defRPr/>
            </a:pPr>
            <a:r>
              <a:rPr lang="en-US" dirty="0"/>
              <a:t>Faculty Name- </a:t>
            </a:r>
            <a:r>
              <a:rPr lang="en-US" dirty="0" err="1"/>
              <a:t>GroupNo</a:t>
            </a:r>
            <a:endParaRPr lang="en-US" dirty="0"/>
          </a:p>
        </p:txBody>
      </p:sp>
      <p:sp>
        <p:nvSpPr>
          <p:cNvPr id="5" name="Slide Number Placeholder 4">
            <a:extLst>
              <a:ext uri="{FF2B5EF4-FFF2-40B4-BE49-F238E27FC236}">
                <a16:creationId xmlns:a16="http://schemas.microsoft.com/office/drawing/2014/main" id="{B0430A37-6649-10A4-AD1A-285B45EB0725}"/>
              </a:ext>
            </a:extLst>
          </p:cNvPr>
          <p:cNvSpPr>
            <a:spLocks noGrp="1"/>
          </p:cNvSpPr>
          <p:nvPr>
            <p:ph type="sldNum" sz="quarter" idx="12"/>
          </p:nvPr>
        </p:nvSpPr>
        <p:spPr/>
        <p:txBody>
          <a:bodyPr/>
          <a:lstStyle/>
          <a:p>
            <a:fld id="{8BD8F058-9003-4658-AA47-7D4800AF7EA2}" type="slidenum">
              <a:rPr lang="en-US" smtClean="0"/>
              <a:pPr/>
              <a:t>9</a:t>
            </a:fld>
            <a:endParaRPr lang="en-US"/>
          </a:p>
        </p:txBody>
      </p:sp>
      <p:sp>
        <p:nvSpPr>
          <p:cNvPr id="11" name="Rectangle 4">
            <a:extLst>
              <a:ext uri="{FF2B5EF4-FFF2-40B4-BE49-F238E27FC236}">
                <a16:creationId xmlns:a16="http://schemas.microsoft.com/office/drawing/2014/main" id="{A24C7029-E807-73CE-F994-905159F91F03}"/>
              </a:ext>
            </a:extLst>
          </p:cNvPr>
          <p:cNvSpPr>
            <a:spLocks noGrp="1" noChangeArrowheads="1"/>
          </p:cNvSpPr>
          <p:nvPr>
            <p:ph idx="1"/>
          </p:nvPr>
        </p:nvSpPr>
        <p:spPr bwMode="auto">
          <a:xfrm>
            <a:off x="457200" y="1093371"/>
            <a:ext cx="8208912"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User A performs a quick search and selects a result immediately. The system identifies them as a fast decision-maker and displays the most relevant results at the top, reducing search time and effort.</a:t>
            </a:r>
          </a:p>
          <a:p>
            <a:r>
              <a:rPr lang="en-US" sz="2000" dirty="0"/>
              <a:t>User B explores multiple options, compares details, and takes time before making a choice. The system classifies them as an analytical user and provides detailed comparisons, additional information, and structured results.</a:t>
            </a:r>
          </a:p>
          <a:p>
            <a:r>
              <a:rPr lang="en-US" sz="2000" dirty="0"/>
              <a:t>User C browses through various options without a fixed pattern and explores different categories. The system recognizes this exploratory behavior and presents diverse and varied results to support discovery.</a:t>
            </a:r>
          </a:p>
          <a:p>
            <a:r>
              <a:rPr lang="en-US" sz="2000" dirty="0"/>
              <a:t>User D prefers safe and reliable options and avoids risks while making decisions. The system identifies them as a risk-averse user and prioritizes highly rated, trusted, and popular results.</a:t>
            </a:r>
          </a:p>
          <a:p>
            <a:r>
              <a:rPr lang="en-US" sz="2000" dirty="0"/>
              <a:t>These real-world scenarios demonstrate how the Decision Personality Twin system adapts dynamically to different user behaviors, improving personalization, efficiency, and overall user experience.</a:t>
            </a:r>
          </a:p>
        </p:txBody>
      </p:sp>
    </p:spTree>
    <p:extLst>
      <p:ext uri="{BB962C8B-B14F-4D97-AF65-F5344CB8AC3E}">
        <p14:creationId xmlns:p14="http://schemas.microsoft.com/office/powerpoint/2010/main" val="1454890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860AB-786F-655E-5A67-0BA218E86DA4}"/>
              </a:ext>
            </a:extLst>
          </p:cNvPr>
          <p:cNvSpPr>
            <a:spLocks noGrp="1"/>
          </p:cNvSpPr>
          <p:nvPr>
            <p:ph type="title"/>
          </p:nvPr>
        </p:nvSpPr>
        <p:spPr/>
        <p:txBody>
          <a:bodyPr/>
          <a:lstStyle/>
          <a:p>
            <a:r>
              <a:rPr lang="en-IN" dirty="0"/>
              <a:t>Literature Survey</a:t>
            </a:r>
          </a:p>
        </p:txBody>
      </p:sp>
      <p:sp>
        <p:nvSpPr>
          <p:cNvPr id="4" name="Footer Placeholder 3">
            <a:extLst>
              <a:ext uri="{FF2B5EF4-FFF2-40B4-BE49-F238E27FC236}">
                <a16:creationId xmlns:a16="http://schemas.microsoft.com/office/drawing/2014/main" id="{372C6A1A-AD85-83F8-7507-606CD3169C64}"/>
              </a:ext>
            </a:extLst>
          </p:cNvPr>
          <p:cNvSpPr>
            <a:spLocks noGrp="1"/>
          </p:cNvSpPr>
          <p:nvPr>
            <p:ph type="ftr" sz="quarter" idx="11"/>
          </p:nvPr>
        </p:nvSpPr>
        <p:spPr/>
        <p:txBody>
          <a:bodyPr/>
          <a:lstStyle/>
          <a:p>
            <a:pPr>
              <a:defRPr/>
            </a:pPr>
            <a:r>
              <a:rPr lang="en-US"/>
              <a:t>Faculty Name - GroupNo</a:t>
            </a:r>
          </a:p>
        </p:txBody>
      </p:sp>
      <p:sp>
        <p:nvSpPr>
          <p:cNvPr id="5" name="Slide Number Placeholder 4">
            <a:extLst>
              <a:ext uri="{FF2B5EF4-FFF2-40B4-BE49-F238E27FC236}">
                <a16:creationId xmlns:a16="http://schemas.microsoft.com/office/drawing/2014/main" id="{EEDB1233-CFDC-66DB-9D2D-852E0034FC02}"/>
              </a:ext>
            </a:extLst>
          </p:cNvPr>
          <p:cNvSpPr>
            <a:spLocks noGrp="1"/>
          </p:cNvSpPr>
          <p:nvPr>
            <p:ph type="sldNum" sz="quarter" idx="12"/>
          </p:nvPr>
        </p:nvSpPr>
        <p:spPr/>
        <p:txBody>
          <a:bodyPr/>
          <a:lstStyle/>
          <a:p>
            <a:fld id="{8BD8F058-9003-4658-AA47-7D4800AF7EA2}" type="slidenum">
              <a:rPr lang="en-US" smtClean="0"/>
              <a:pPr/>
              <a:t>10</a:t>
            </a:fld>
            <a:endParaRPr lang="en-US"/>
          </a:p>
        </p:txBody>
      </p:sp>
      <p:sp>
        <p:nvSpPr>
          <p:cNvPr id="7" name="Rectangle 2">
            <a:extLst>
              <a:ext uri="{FF2B5EF4-FFF2-40B4-BE49-F238E27FC236}">
                <a16:creationId xmlns:a16="http://schemas.microsoft.com/office/drawing/2014/main" id="{B8E858BB-1CE3-E724-928F-B4D76EAC1DB9}"/>
              </a:ext>
            </a:extLst>
          </p:cNvPr>
          <p:cNvSpPr>
            <a:spLocks noChangeArrowheads="1"/>
          </p:cNvSpPr>
          <p:nvPr/>
        </p:nvSpPr>
        <p:spPr bwMode="auto">
          <a:xfrm rot="10800000" flipV="1">
            <a:off x="323528" y="668804"/>
            <a:ext cx="8496944"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Users often struggle with personalization systems that only consider past preferences such as clicks and browsing history, while ignoring how decisions are actually made. This leads to inefficient interactions, increased decision time, and a poor user experience.</a:t>
            </a:r>
          </a:p>
          <a:p>
            <a:r>
              <a:rPr lang="en-US" sz="2000" dirty="0">
                <a:latin typeface="Times New Roman" panose="02020603050405020304" pitchFamily="18" charset="0"/>
                <a:cs typeface="Times New Roman" panose="02020603050405020304" pitchFamily="18" charset="0"/>
              </a:rPr>
              <a:t>Research shows a growing need for intelligent systems that can understand user behavior at a deeper level by incorporating: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Decision-making patterns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Interaction behavior (clicks, scrolling, time)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Cognitive differences between users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adaptability </a:t>
            </a:r>
          </a:p>
          <a:p>
            <a:r>
              <a:rPr lang="en-US" sz="2000" dirty="0">
                <a:latin typeface="Times New Roman" panose="02020603050405020304" pitchFamily="18" charset="0"/>
                <a:cs typeface="Times New Roman" panose="02020603050405020304" pitchFamily="18" charset="0"/>
              </a:rPr>
              <a:t>The Decision Personality Twin (DPT) system addresses this gap by providing a unified, behavior-driven solution. It captures user interaction data, models decision-making styles, and uses machine learning techniques like K-Means clustering and Random Forest for classification. Built using technologies such as React, Node.js, MongoDB, and Python, the system dynamically adapts search results and interface complexity—delivering a faster, smarter, and more personalized user experience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602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71522"/>
            <a:ext cx="6477000" cy="613558"/>
          </a:xfrm>
        </p:spPr>
        <p:txBody>
          <a:bodyPr/>
          <a:lstStyle/>
          <a:p>
            <a:pPr algn="l"/>
            <a:r>
              <a:rPr lang="en-US" b="1" dirty="0"/>
              <a:t>                       </a:t>
            </a:r>
            <a:r>
              <a:rPr lang="en-US" dirty="0"/>
              <a:t>Methodology</a:t>
            </a:r>
          </a:p>
        </p:txBody>
      </p:sp>
      <p:sp>
        <p:nvSpPr>
          <p:cNvPr id="5" name="Slide Number Placeholder 4"/>
          <p:cNvSpPr>
            <a:spLocks noGrp="1"/>
          </p:cNvSpPr>
          <p:nvPr>
            <p:ph type="sldNum" sz="quarter" idx="12"/>
          </p:nvPr>
        </p:nvSpPr>
        <p:spPr/>
        <p:txBody>
          <a:bodyPr/>
          <a:lstStyle/>
          <a:p>
            <a:fld id="{8BD8F058-9003-4658-AA47-7D4800AF7EA2}" type="slidenum">
              <a:rPr lang="en-US" smtClean="0"/>
              <a:pPr/>
              <a:t>11</a:t>
            </a:fld>
            <a:endParaRPr lang="en-US"/>
          </a:p>
        </p:txBody>
      </p:sp>
      <p:sp>
        <p:nvSpPr>
          <p:cNvPr id="3" name="TextBox 2">
            <a:extLst>
              <a:ext uri="{FF2B5EF4-FFF2-40B4-BE49-F238E27FC236}">
                <a16:creationId xmlns:a16="http://schemas.microsoft.com/office/drawing/2014/main" id="{2EC97331-2E63-7B9E-9CB0-956EC701889B}"/>
              </a:ext>
            </a:extLst>
          </p:cNvPr>
          <p:cNvSpPr txBox="1"/>
          <p:nvPr/>
        </p:nvSpPr>
        <p:spPr>
          <a:xfrm rot="10800000">
            <a:off x="624314" y="2343143"/>
            <a:ext cx="7494201" cy="923330"/>
          </a:xfrm>
          <a:prstGeom prst="rect">
            <a:avLst/>
          </a:prstGeom>
          <a:noFill/>
        </p:spPr>
        <p:txBody>
          <a:bodyPr wrap="square" rtlCol="0">
            <a:spAutoFit/>
          </a:bodyPr>
          <a:lstStyle/>
          <a:p>
            <a:endParaRPr lang="en-US" dirty="0"/>
          </a:p>
          <a:p>
            <a:endParaRPr lang="en-US" dirty="0"/>
          </a:p>
          <a:p>
            <a:endParaRPr lang="en-IN" dirty="0"/>
          </a:p>
        </p:txBody>
      </p:sp>
      <p:sp>
        <p:nvSpPr>
          <p:cNvPr id="8" name="Rectangle 2">
            <a:extLst>
              <a:ext uri="{FF2B5EF4-FFF2-40B4-BE49-F238E27FC236}">
                <a16:creationId xmlns:a16="http://schemas.microsoft.com/office/drawing/2014/main" id="{EF60E196-81D3-51C7-C8DF-DD99C2E2EC67}"/>
              </a:ext>
            </a:extLst>
          </p:cNvPr>
          <p:cNvSpPr>
            <a:spLocks noChangeArrowheads="1"/>
          </p:cNvSpPr>
          <p:nvPr/>
        </p:nvSpPr>
        <p:spPr bwMode="auto">
          <a:xfrm rot="10800000" flipV="1">
            <a:off x="457200" y="590525"/>
            <a:ext cx="8075240"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system follows a structured approach to model and adapt to user decision-making behavior. It begins by capturing user interaction data such as decision time, number of clicks, scroll depth, and exploration patterns during system usage. These behavioral features are processed and combined to form a Decision Signature Vector (DSV), which represents each user’s decision-making style in a numerical format.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Machine learning techniques like K-Means clustering are then applied to group users into different decision personality types such as fast, analytical, exploratory, and risk-averse. In addition, classification models like Random Forest are used to predict user personality in real time based on new interaction data.</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Based on the identified personality, the system dynamically adapts its behavior by modifying search result rankings, interface complexity, and content presentation. A continuous feedback loop allows the system to learn from ongoing user interactions, improving accuracy and personalization over time.</a:t>
            </a:r>
          </a:p>
        </p:txBody>
      </p:sp>
    </p:spTree>
    <p:extLst>
      <p:ext uri="{BB962C8B-B14F-4D97-AF65-F5344CB8AC3E}">
        <p14:creationId xmlns:p14="http://schemas.microsoft.com/office/powerpoint/2010/main" val="1775268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37C4D-412C-7453-BC47-E7039405E3EF}"/>
              </a:ext>
            </a:extLst>
          </p:cNvPr>
          <p:cNvSpPr>
            <a:spLocks noGrp="1"/>
          </p:cNvSpPr>
          <p:nvPr>
            <p:ph type="title"/>
          </p:nvPr>
        </p:nvSpPr>
        <p:spPr/>
        <p:txBody>
          <a:bodyPr/>
          <a:lstStyle/>
          <a:p>
            <a:r>
              <a:rPr lang="en-IN" b="1" dirty="0"/>
              <a:t>    </a:t>
            </a:r>
            <a:r>
              <a:rPr lang="en-IN" dirty="0"/>
              <a:t>Technology Stack</a:t>
            </a:r>
            <a:endParaRPr lang="en-IN" b="1" dirty="0"/>
          </a:p>
        </p:txBody>
      </p:sp>
      <p:sp>
        <p:nvSpPr>
          <p:cNvPr id="3" name="Content Placeholder 2">
            <a:extLst>
              <a:ext uri="{FF2B5EF4-FFF2-40B4-BE49-F238E27FC236}">
                <a16:creationId xmlns:a16="http://schemas.microsoft.com/office/drawing/2014/main" id="{13A07D42-83B8-6731-3A83-D321064606B4}"/>
              </a:ext>
            </a:extLst>
          </p:cNvPr>
          <p:cNvSpPr>
            <a:spLocks noGrp="1"/>
          </p:cNvSpPr>
          <p:nvPr>
            <p:ph idx="1"/>
          </p:nvPr>
        </p:nvSpPr>
        <p:spPr>
          <a:xfrm>
            <a:off x="457200" y="980728"/>
            <a:ext cx="8229600" cy="5544616"/>
          </a:xfrm>
        </p:spPr>
        <p:txBody>
          <a:bodyPr/>
          <a:lstStyle/>
          <a:p>
            <a:pPr marL="0" indent="0">
              <a:buNone/>
            </a:pPr>
            <a:r>
              <a:rPr lang="en-US" dirty="0"/>
              <a:t>.</a:t>
            </a:r>
          </a:p>
          <a:p>
            <a:pPr marL="0" indent="0">
              <a:buNone/>
            </a:pPr>
            <a:endParaRPr lang="en-US" dirty="0"/>
          </a:p>
        </p:txBody>
      </p:sp>
      <p:sp>
        <p:nvSpPr>
          <p:cNvPr id="5" name="Rectangle 2">
            <a:extLst>
              <a:ext uri="{FF2B5EF4-FFF2-40B4-BE49-F238E27FC236}">
                <a16:creationId xmlns:a16="http://schemas.microsoft.com/office/drawing/2014/main" id="{28AC4B7D-EB99-1C2C-1328-0E68D3542956}"/>
              </a:ext>
            </a:extLst>
          </p:cNvPr>
          <p:cNvSpPr>
            <a:spLocks noChangeArrowheads="1"/>
          </p:cNvSpPr>
          <p:nvPr/>
        </p:nvSpPr>
        <p:spPr bwMode="auto">
          <a:xfrm rot="10800000" flipV="1">
            <a:off x="457200" y="1228375"/>
            <a:ext cx="831195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Frontend built using React.js to create an interactive and dynamic user interface.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Backend implemented with Node.js and Express to handle server logic and API communication.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Database managed using MongoDB to store user interaction data and behavioral logs.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Machine learning models developed using Python with Scikit-learn for clustering and classification.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API communication handled using Flask to connect the backend with the ML model.</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Styling managed using HTML and CSS for a clean and structured interface.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JavaScript used as the primary programming language across frontend and backend.</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Development carried out using Visual Studio Code for efficient coding and debugging.</a:t>
            </a:r>
          </a:p>
        </p:txBody>
      </p:sp>
    </p:spTree>
    <p:extLst>
      <p:ext uri="{BB962C8B-B14F-4D97-AF65-F5344CB8AC3E}">
        <p14:creationId xmlns:p14="http://schemas.microsoft.com/office/powerpoint/2010/main" val="2629693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57B43-239B-02BD-24EA-331A7AC2AF87}"/>
              </a:ext>
            </a:extLst>
          </p:cNvPr>
          <p:cNvSpPr>
            <a:spLocks noGrp="1"/>
          </p:cNvSpPr>
          <p:nvPr>
            <p:ph type="title"/>
          </p:nvPr>
        </p:nvSpPr>
        <p:spPr/>
        <p:txBody>
          <a:bodyPr/>
          <a:lstStyle/>
          <a:p>
            <a:r>
              <a:rPr lang="en-IN" dirty="0"/>
              <a:t>Future Scope</a:t>
            </a:r>
          </a:p>
        </p:txBody>
      </p:sp>
      <p:sp>
        <p:nvSpPr>
          <p:cNvPr id="4" name="Footer Placeholder 3">
            <a:extLst>
              <a:ext uri="{FF2B5EF4-FFF2-40B4-BE49-F238E27FC236}">
                <a16:creationId xmlns:a16="http://schemas.microsoft.com/office/drawing/2014/main" id="{D234743E-F363-3B9D-0ECF-59EEBBB28188}"/>
              </a:ext>
            </a:extLst>
          </p:cNvPr>
          <p:cNvSpPr>
            <a:spLocks noGrp="1"/>
          </p:cNvSpPr>
          <p:nvPr>
            <p:ph type="ftr" sz="quarter" idx="11"/>
          </p:nvPr>
        </p:nvSpPr>
        <p:spPr/>
        <p:txBody>
          <a:bodyPr/>
          <a:lstStyle/>
          <a:p>
            <a:pPr>
              <a:defRPr/>
            </a:pPr>
            <a:r>
              <a:rPr lang="en-US"/>
              <a:t>Faculty Name - GroupNo</a:t>
            </a:r>
          </a:p>
        </p:txBody>
      </p:sp>
      <p:sp>
        <p:nvSpPr>
          <p:cNvPr id="5" name="Slide Number Placeholder 4">
            <a:extLst>
              <a:ext uri="{FF2B5EF4-FFF2-40B4-BE49-F238E27FC236}">
                <a16:creationId xmlns:a16="http://schemas.microsoft.com/office/drawing/2014/main" id="{E74CBE5C-744A-3182-48E1-7A171FCBDA7E}"/>
              </a:ext>
            </a:extLst>
          </p:cNvPr>
          <p:cNvSpPr>
            <a:spLocks noGrp="1"/>
          </p:cNvSpPr>
          <p:nvPr>
            <p:ph type="sldNum" sz="quarter" idx="12"/>
          </p:nvPr>
        </p:nvSpPr>
        <p:spPr/>
        <p:txBody>
          <a:bodyPr/>
          <a:lstStyle/>
          <a:p>
            <a:fld id="{8BD8F058-9003-4658-AA47-7D4800AF7EA2}" type="slidenum">
              <a:rPr lang="en-US" smtClean="0"/>
              <a:pPr/>
              <a:t>13</a:t>
            </a:fld>
            <a:endParaRPr lang="en-US"/>
          </a:p>
        </p:txBody>
      </p:sp>
      <p:sp>
        <p:nvSpPr>
          <p:cNvPr id="6" name="Rectangle 1">
            <a:extLst>
              <a:ext uri="{FF2B5EF4-FFF2-40B4-BE49-F238E27FC236}">
                <a16:creationId xmlns:a16="http://schemas.microsoft.com/office/drawing/2014/main" id="{5F5313C6-52CE-02C8-C543-1A6249F4ACDA}"/>
              </a:ext>
            </a:extLst>
          </p:cNvPr>
          <p:cNvSpPr>
            <a:spLocks noChangeArrowheads="1"/>
          </p:cNvSpPr>
          <p:nvPr/>
        </p:nvSpPr>
        <p:spPr bwMode="auto">
          <a:xfrm>
            <a:off x="467544" y="728895"/>
            <a:ext cx="8219256"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Real-Time Data Integration</a:t>
            </a:r>
            <a:r>
              <a:rPr lang="en-US" sz="2000" dirty="0">
                <a:latin typeface="Times New Roman" panose="02020603050405020304" pitchFamily="18" charset="0"/>
                <a:cs typeface="Times New Roman" panose="02020603050405020304" pitchFamily="18" charset="0"/>
              </a:rPr>
              <a:t>: Incorporate real-world user interaction data to improve accuracy and system reliability.</a:t>
            </a:r>
          </a:p>
          <a:p>
            <a:pPr marL="342900" indent="-342900">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Advanced Machine Learning Models: </a:t>
            </a:r>
            <a:r>
              <a:rPr lang="en-US" sz="2000" dirty="0">
                <a:latin typeface="Times New Roman" panose="02020603050405020304" pitchFamily="18" charset="0"/>
                <a:cs typeface="Times New Roman" panose="02020603050405020304" pitchFamily="18" charset="0"/>
              </a:rPr>
              <a:t>Apply deep learning and reinforcement learning techniques for better prediction and adaptability.</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Cross-Domain Applications: </a:t>
            </a:r>
            <a:r>
              <a:rPr lang="en-US" sz="2000" dirty="0">
                <a:latin typeface="Times New Roman" panose="02020603050405020304" pitchFamily="18" charset="0"/>
                <a:cs typeface="Times New Roman" panose="02020603050405020304" pitchFamily="18" charset="0"/>
              </a:rPr>
              <a:t>Extend the system to domains like e-learning, healthcare, and intelligent assistants for wider usability.</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Explainable AI Integration: </a:t>
            </a:r>
            <a:r>
              <a:rPr lang="en-US" sz="2000" dirty="0">
                <a:latin typeface="Times New Roman" panose="02020603050405020304" pitchFamily="18" charset="0"/>
                <a:cs typeface="Times New Roman" panose="02020603050405020304" pitchFamily="18" charset="0"/>
              </a:rPr>
              <a:t>Add transparency to decision-making models to improve user trust and system interpretability.</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Scalability Improvements: </a:t>
            </a:r>
            <a:r>
              <a:rPr lang="en-US" sz="2000" dirty="0">
                <a:latin typeface="Times New Roman" panose="02020603050405020304" pitchFamily="18" charset="0"/>
                <a:cs typeface="Times New Roman" panose="02020603050405020304" pitchFamily="18" charset="0"/>
              </a:rPr>
              <a:t>Optimize system architecture to handle large-scale users and real-time processing efficiently.</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Enhanced Personalization: </a:t>
            </a:r>
            <a:r>
              <a:rPr lang="en-US" sz="2000" dirty="0">
                <a:latin typeface="Times New Roman" panose="02020603050405020304" pitchFamily="18" charset="0"/>
                <a:cs typeface="Times New Roman" panose="02020603050405020304" pitchFamily="18" charset="0"/>
              </a:rPr>
              <a:t>Refine adaptive strategies to deliver more precise and context-aware user experiences.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B4AF22D1-35B5-6DAB-1444-74CA50AC69B4}"/>
              </a:ext>
            </a:extLst>
          </p:cNvPr>
          <p:cNvSpPr>
            <a:spLocks noChangeArrowheads="1"/>
          </p:cNvSpPr>
          <p:nvPr/>
        </p:nvSpPr>
        <p:spPr bwMode="auto">
          <a:xfrm>
            <a:off x="683568" y="0"/>
            <a:ext cx="8460432"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467951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5B936-6D7C-239B-B563-31BCDC92FA01}"/>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C1A80D9F-F1E6-EBB2-E2A8-DCFAD35FA26B}"/>
              </a:ext>
            </a:extLst>
          </p:cNvPr>
          <p:cNvSpPr>
            <a:spLocks noGrp="1"/>
          </p:cNvSpPr>
          <p:nvPr>
            <p:ph idx="1"/>
          </p:nvPr>
        </p:nvSpPr>
        <p:spPr/>
        <p:txBody>
          <a:bodyPr/>
          <a:lstStyle/>
          <a:p>
            <a:r>
              <a:rPr lang="en-US" sz="2000" dirty="0"/>
              <a:t>Decision Personality Twin (DPT) introduces a novel approach to personalization by focusing on how users make decisions rather than only what they choose.</a:t>
            </a:r>
          </a:p>
          <a:p>
            <a:r>
              <a:rPr lang="en-US" sz="2000" dirty="0"/>
              <a:t>The system analyzes behavioral patterns such as decision time, scrolling behavior, and interaction depth to model user decision-making styles.</a:t>
            </a:r>
          </a:p>
          <a:p>
            <a:r>
              <a:rPr lang="en-US" sz="2000" dirty="0"/>
              <a:t>Using machine learning techniques, it classifies users into different personality types and adapts system behavior dynamically.</a:t>
            </a:r>
          </a:p>
          <a:p>
            <a:r>
              <a:rPr lang="en-US" sz="2000" dirty="0"/>
              <a:t>This approach improves efficiency by reducing task completion time and minimizing unnecessary interactions.</a:t>
            </a:r>
          </a:p>
          <a:p>
            <a:r>
              <a:rPr lang="en-US" sz="2000" dirty="0"/>
              <a:t>It also enhances user satisfaction by providing more relevant and personalized results based on individual behavior.</a:t>
            </a:r>
          </a:p>
          <a:p>
            <a:r>
              <a:rPr lang="en-US" sz="2000" dirty="0"/>
              <a:t>Overall, DPT adds a behavioral intelligence layer to adaptive systems, making them more user-centric, efficient, and intelligent.</a:t>
            </a:r>
          </a:p>
          <a:p>
            <a:endParaRPr lang="en-IN" dirty="0"/>
          </a:p>
        </p:txBody>
      </p:sp>
      <p:sp>
        <p:nvSpPr>
          <p:cNvPr id="4" name="Footer Placeholder 3">
            <a:extLst>
              <a:ext uri="{FF2B5EF4-FFF2-40B4-BE49-F238E27FC236}">
                <a16:creationId xmlns:a16="http://schemas.microsoft.com/office/drawing/2014/main" id="{7F739FCC-F2B5-A047-5C4A-69CCA970413B}"/>
              </a:ext>
            </a:extLst>
          </p:cNvPr>
          <p:cNvSpPr>
            <a:spLocks noGrp="1"/>
          </p:cNvSpPr>
          <p:nvPr>
            <p:ph type="ftr" sz="quarter" idx="11"/>
          </p:nvPr>
        </p:nvSpPr>
        <p:spPr/>
        <p:txBody>
          <a:bodyPr/>
          <a:lstStyle/>
          <a:p>
            <a:pPr>
              <a:defRPr/>
            </a:pPr>
            <a:r>
              <a:rPr lang="en-US"/>
              <a:t>Faculty Name - GroupNo</a:t>
            </a:r>
          </a:p>
        </p:txBody>
      </p:sp>
      <p:sp>
        <p:nvSpPr>
          <p:cNvPr id="5" name="Slide Number Placeholder 4">
            <a:extLst>
              <a:ext uri="{FF2B5EF4-FFF2-40B4-BE49-F238E27FC236}">
                <a16:creationId xmlns:a16="http://schemas.microsoft.com/office/drawing/2014/main" id="{DD560BF8-2EEA-ADB3-75CC-5E591F59E4C2}"/>
              </a:ext>
            </a:extLst>
          </p:cNvPr>
          <p:cNvSpPr>
            <a:spLocks noGrp="1"/>
          </p:cNvSpPr>
          <p:nvPr>
            <p:ph type="sldNum" sz="quarter" idx="12"/>
          </p:nvPr>
        </p:nvSpPr>
        <p:spPr/>
        <p:txBody>
          <a:bodyPr/>
          <a:lstStyle/>
          <a:p>
            <a:fld id="{8BD8F058-9003-4658-AA47-7D4800AF7EA2}" type="slidenum">
              <a:rPr lang="en-US" smtClean="0"/>
              <a:pPr/>
              <a:t>14</a:t>
            </a:fld>
            <a:endParaRPr lang="en-US"/>
          </a:p>
        </p:txBody>
      </p:sp>
    </p:spTree>
    <p:extLst>
      <p:ext uri="{BB962C8B-B14F-4D97-AF65-F5344CB8AC3E}">
        <p14:creationId xmlns:p14="http://schemas.microsoft.com/office/powerpoint/2010/main" val="3768996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33AE5-20A1-DCAE-7F76-A4AB1F62476A}"/>
              </a:ext>
            </a:extLst>
          </p:cNvPr>
          <p:cNvSpPr>
            <a:spLocks noGrp="1"/>
          </p:cNvSpPr>
          <p:nvPr>
            <p:ph type="title"/>
          </p:nvPr>
        </p:nvSpPr>
        <p:spPr/>
        <p:txBody>
          <a:bodyPr/>
          <a:lstStyle/>
          <a:p>
            <a:r>
              <a:rPr lang="en-IN" dirty="0"/>
              <a:t>References</a:t>
            </a:r>
          </a:p>
        </p:txBody>
      </p:sp>
      <p:sp>
        <p:nvSpPr>
          <p:cNvPr id="4" name="Footer Placeholder 3">
            <a:extLst>
              <a:ext uri="{FF2B5EF4-FFF2-40B4-BE49-F238E27FC236}">
                <a16:creationId xmlns:a16="http://schemas.microsoft.com/office/drawing/2014/main" id="{B2F653A0-F22D-C369-7867-D197EE10CE9E}"/>
              </a:ext>
            </a:extLst>
          </p:cNvPr>
          <p:cNvSpPr>
            <a:spLocks noGrp="1"/>
          </p:cNvSpPr>
          <p:nvPr>
            <p:ph type="ftr" sz="quarter" idx="11"/>
          </p:nvPr>
        </p:nvSpPr>
        <p:spPr/>
        <p:txBody>
          <a:bodyPr/>
          <a:lstStyle/>
          <a:p>
            <a:pPr>
              <a:defRPr/>
            </a:pPr>
            <a:r>
              <a:rPr lang="en-US"/>
              <a:t>Faculty Name - GroupNo</a:t>
            </a:r>
          </a:p>
        </p:txBody>
      </p:sp>
      <p:sp>
        <p:nvSpPr>
          <p:cNvPr id="5" name="Slide Number Placeholder 4">
            <a:extLst>
              <a:ext uri="{FF2B5EF4-FFF2-40B4-BE49-F238E27FC236}">
                <a16:creationId xmlns:a16="http://schemas.microsoft.com/office/drawing/2014/main" id="{C3D9FBD0-A2BD-3EBA-9409-C37287D2EAB9}"/>
              </a:ext>
            </a:extLst>
          </p:cNvPr>
          <p:cNvSpPr>
            <a:spLocks noGrp="1"/>
          </p:cNvSpPr>
          <p:nvPr>
            <p:ph type="sldNum" sz="quarter" idx="12"/>
          </p:nvPr>
        </p:nvSpPr>
        <p:spPr/>
        <p:txBody>
          <a:bodyPr/>
          <a:lstStyle/>
          <a:p>
            <a:fld id="{8BD8F058-9003-4658-AA47-7D4800AF7EA2}" type="slidenum">
              <a:rPr lang="en-US" smtClean="0"/>
              <a:pPr/>
              <a:t>15</a:t>
            </a:fld>
            <a:endParaRPr lang="en-US"/>
          </a:p>
        </p:txBody>
      </p:sp>
      <p:sp>
        <p:nvSpPr>
          <p:cNvPr id="6" name="Rectangle 1">
            <a:extLst>
              <a:ext uri="{FF2B5EF4-FFF2-40B4-BE49-F238E27FC236}">
                <a16:creationId xmlns:a16="http://schemas.microsoft.com/office/drawing/2014/main" id="{0FABF69D-6F8B-8767-6602-CA62F2073860}"/>
              </a:ext>
            </a:extLst>
          </p:cNvPr>
          <p:cNvSpPr>
            <a:spLocks noGrp="1" noChangeArrowheads="1"/>
          </p:cNvSpPr>
          <p:nvPr>
            <p:ph idx="1"/>
          </p:nvPr>
        </p:nvSpPr>
        <p:spPr bwMode="auto">
          <a:xfrm>
            <a:off x="467544" y="1349951"/>
            <a:ext cx="8424936"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spcBef>
                <a:spcPct val="0"/>
              </a:spcBef>
              <a:buFontTx/>
              <a:buChar char="•"/>
            </a:pPr>
            <a:r>
              <a:rPr lang="en-IN" sz="2000" dirty="0"/>
              <a:t>G. </a:t>
            </a:r>
            <a:r>
              <a:rPr lang="en-IN" sz="2000" dirty="0" err="1"/>
              <a:t>Adomavicius</a:t>
            </a:r>
            <a:r>
              <a:rPr lang="en-IN" sz="2000" dirty="0"/>
              <a:t>, K. Bauman, A. </a:t>
            </a:r>
            <a:r>
              <a:rPr lang="en-IN" sz="2000" dirty="0" err="1"/>
              <a:t>Tuzhilin</a:t>
            </a:r>
            <a:r>
              <a:rPr lang="en-IN" sz="2000" dirty="0"/>
              <a:t>, and M. Unger, “Context-Aware Recommender Systems: From Foundations to Recent Developments,” Recommender Systems Handbook: Third Edition, pp. 211–250, Jan. 2022, </a:t>
            </a:r>
            <a:r>
              <a:rPr lang="en-IN" sz="2000" dirty="0" err="1"/>
              <a:t>doi</a:t>
            </a:r>
            <a:r>
              <a:rPr lang="en-IN" sz="2000" dirty="0"/>
              <a:t>: 10.1007/978-1-0716-2197-4_6. </a:t>
            </a:r>
          </a:p>
          <a:p>
            <a:pPr marL="0" lvl="0" indent="0">
              <a:spcBef>
                <a:spcPct val="0"/>
              </a:spcBef>
              <a:buFontTx/>
              <a:buChar char="•"/>
            </a:pPr>
            <a:r>
              <a:rPr lang="en-IN" sz="2000" dirty="0"/>
              <a:t>H. Van et al., “Deep Reinforcement Learning and the Deadly Triad,” Dec. 2018, Accessed: Mar. 20, 2026. [Online]. Available: </a:t>
            </a:r>
            <a:r>
              <a:rPr lang="en-IN" sz="2000" dirty="0">
                <a:hlinkClick r:id="rId2"/>
              </a:rPr>
              <a:t>https://arxiv.org/abs/1812.02648v1</a:t>
            </a:r>
            <a:endParaRPr lang="en-IN" sz="2000" dirty="0"/>
          </a:p>
          <a:p>
            <a:pPr marL="0" lvl="0" indent="0">
              <a:spcBef>
                <a:spcPct val="0"/>
              </a:spcBef>
              <a:buFontTx/>
              <a:buChar char="•"/>
            </a:pPr>
            <a:r>
              <a:rPr lang="en-IN" sz="2000" dirty="0"/>
              <a:t>  F. Cena, S. </a:t>
            </a:r>
            <a:r>
              <a:rPr lang="en-IN" sz="2000" dirty="0" err="1"/>
              <a:t>Likavec</a:t>
            </a:r>
            <a:r>
              <a:rPr lang="en-IN" sz="2000" dirty="0"/>
              <a:t>, and A. Rapp, “Real World User Model: Evolution of User </a:t>
            </a:r>
            <a:r>
              <a:rPr lang="en-IN" sz="2000" dirty="0" err="1"/>
              <a:t>Modeling</a:t>
            </a:r>
            <a:r>
              <a:rPr lang="en-IN" sz="2000" dirty="0"/>
              <a:t> Triggered by Advances in Wearable and Ubiquitous Computing,” Information Systems Frontiers 2018 21:5, vol. 21, no. 5, pp. 1085–1110, Jan. 2018, </a:t>
            </a:r>
            <a:r>
              <a:rPr lang="en-IN" sz="2000" dirty="0" err="1"/>
              <a:t>doi</a:t>
            </a:r>
            <a:r>
              <a:rPr lang="en-IN" sz="2000" dirty="0"/>
              <a:t>: 10.1007/S10796-017-9818-3. </a:t>
            </a:r>
          </a:p>
          <a:p>
            <a:pPr marL="0" lvl="0" indent="0">
              <a:spcBef>
                <a:spcPct val="0"/>
              </a:spcBef>
              <a:buFontTx/>
              <a:buChar char="•"/>
            </a:pPr>
            <a:r>
              <a:rPr lang="en-IN" sz="2000" dirty="0"/>
              <a:t>A. G. Martín, A. Fernández-Isabel, I. Martín de Diego, and M. Beltrán, “A survey for user </a:t>
            </a:r>
            <a:r>
              <a:rPr lang="en-IN" sz="2000" dirty="0" err="1"/>
              <a:t>behavior</a:t>
            </a:r>
            <a:r>
              <a:rPr lang="en-IN" sz="2000" dirty="0"/>
              <a:t> analysis based on machine learning techniques: current models and applications,” Applied Intelligence, vol. 51, no. 8, pp. 6029–6055, Aug. 2021, </a:t>
            </a:r>
            <a:r>
              <a:rPr lang="en-IN" sz="2000" dirty="0" err="1"/>
              <a:t>doi</a:t>
            </a:r>
            <a:r>
              <a:rPr lang="en-IN" sz="2000" dirty="0"/>
              <a:t>: 10.1007/S10489-020-02160-X/METRICS. </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778958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A4F08-28B6-A2B0-610C-DA76FD03F19C}"/>
              </a:ext>
            </a:extLst>
          </p:cNvPr>
          <p:cNvSpPr>
            <a:spLocks noGrp="1"/>
          </p:cNvSpPr>
          <p:nvPr>
            <p:ph type="title"/>
          </p:nvPr>
        </p:nvSpPr>
        <p:spPr/>
        <p:txBody>
          <a:bodyPr/>
          <a:lstStyle/>
          <a:p>
            <a:r>
              <a:rPr lang="en-IN" dirty="0"/>
              <a:t>Acknowledgement</a:t>
            </a:r>
          </a:p>
        </p:txBody>
      </p:sp>
      <p:sp>
        <p:nvSpPr>
          <p:cNvPr id="3" name="Content Placeholder 2">
            <a:extLst>
              <a:ext uri="{FF2B5EF4-FFF2-40B4-BE49-F238E27FC236}">
                <a16:creationId xmlns:a16="http://schemas.microsoft.com/office/drawing/2014/main" id="{88204FFE-5971-C808-8B59-C3940E1DCFE6}"/>
              </a:ext>
            </a:extLst>
          </p:cNvPr>
          <p:cNvSpPr>
            <a:spLocks noGrp="1"/>
          </p:cNvSpPr>
          <p:nvPr>
            <p:ph idx="1"/>
          </p:nvPr>
        </p:nvSpPr>
        <p:spPr/>
        <p:txBody>
          <a:bodyPr/>
          <a:lstStyle/>
          <a:p>
            <a:r>
              <a:rPr lang="en-US" sz="2000" dirty="0"/>
              <a:t>We would like to express our sincere gratitude to our faculty mentor for their continuous guidance, support, and valuable suggestions throughout this research work.</a:t>
            </a:r>
          </a:p>
          <a:p>
            <a:r>
              <a:rPr lang="en-US" sz="2000" dirty="0"/>
              <a:t>We are thankful to our institution for providing the necessary resources and environment to successfully complete this project.</a:t>
            </a:r>
          </a:p>
          <a:p>
            <a:r>
              <a:rPr lang="en-US" sz="2000" dirty="0"/>
              <a:t>We also appreciate the efforts and collaboration of all team members, whose dedication contributed to the successful implementation of this work.</a:t>
            </a:r>
          </a:p>
          <a:p>
            <a:r>
              <a:rPr lang="en-US" sz="2000" dirty="0"/>
              <a:t>Finally, we extend our thanks to everyone who directly or indirectly supported us during the development of this research.</a:t>
            </a:r>
          </a:p>
          <a:p>
            <a:endParaRPr lang="en-IN" dirty="0"/>
          </a:p>
        </p:txBody>
      </p:sp>
      <p:sp>
        <p:nvSpPr>
          <p:cNvPr id="4" name="Footer Placeholder 3">
            <a:extLst>
              <a:ext uri="{FF2B5EF4-FFF2-40B4-BE49-F238E27FC236}">
                <a16:creationId xmlns:a16="http://schemas.microsoft.com/office/drawing/2014/main" id="{88962A78-D4DA-16D8-A0A1-4F742542790F}"/>
              </a:ext>
            </a:extLst>
          </p:cNvPr>
          <p:cNvSpPr>
            <a:spLocks noGrp="1"/>
          </p:cNvSpPr>
          <p:nvPr>
            <p:ph type="ftr" sz="quarter" idx="11"/>
          </p:nvPr>
        </p:nvSpPr>
        <p:spPr/>
        <p:txBody>
          <a:bodyPr/>
          <a:lstStyle/>
          <a:p>
            <a:pPr>
              <a:defRPr/>
            </a:pPr>
            <a:r>
              <a:rPr lang="en-US"/>
              <a:t>Faculty Name - GroupNo</a:t>
            </a:r>
          </a:p>
        </p:txBody>
      </p:sp>
      <p:sp>
        <p:nvSpPr>
          <p:cNvPr id="5" name="Slide Number Placeholder 4">
            <a:extLst>
              <a:ext uri="{FF2B5EF4-FFF2-40B4-BE49-F238E27FC236}">
                <a16:creationId xmlns:a16="http://schemas.microsoft.com/office/drawing/2014/main" id="{B428A9D1-EA66-40F8-8247-CD427BAB8FFC}"/>
              </a:ext>
            </a:extLst>
          </p:cNvPr>
          <p:cNvSpPr>
            <a:spLocks noGrp="1"/>
          </p:cNvSpPr>
          <p:nvPr>
            <p:ph type="sldNum" sz="quarter" idx="12"/>
          </p:nvPr>
        </p:nvSpPr>
        <p:spPr/>
        <p:txBody>
          <a:bodyPr/>
          <a:lstStyle/>
          <a:p>
            <a:fld id="{8BD8F058-9003-4658-AA47-7D4800AF7EA2}" type="slidenum">
              <a:rPr lang="en-US" smtClean="0"/>
              <a:pPr/>
              <a:t>16</a:t>
            </a:fld>
            <a:endParaRPr lang="en-US"/>
          </a:p>
        </p:txBody>
      </p:sp>
    </p:spTree>
    <p:extLst>
      <p:ext uri="{BB962C8B-B14F-4D97-AF65-F5344CB8AC3E}">
        <p14:creationId xmlns:p14="http://schemas.microsoft.com/office/powerpoint/2010/main" val="2212337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8BD8F058-9003-4658-AA47-7D4800AF7EA2}" type="slidenum">
              <a:rPr lang="en-US" smtClean="0"/>
              <a:pPr/>
              <a:t>17</a:t>
            </a:fld>
            <a:endParaRPr lang="en-US"/>
          </a:p>
        </p:txBody>
      </p:sp>
      <p:sp>
        <p:nvSpPr>
          <p:cNvPr id="26" name="TextBox 3">
            <a:extLst>
              <a:ext uri="{FF2B5EF4-FFF2-40B4-BE49-F238E27FC236}">
                <a16:creationId xmlns:a16="http://schemas.microsoft.com/office/drawing/2014/main" id="{30C10EFF-C003-94DD-FC80-2A0D29EB2446}"/>
              </a:ext>
            </a:extLst>
          </p:cNvPr>
          <p:cNvSpPr txBox="1"/>
          <p:nvPr/>
        </p:nvSpPr>
        <p:spPr>
          <a:xfrm>
            <a:off x="1403648" y="2492896"/>
            <a:ext cx="6857112" cy="2462213"/>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ctr"/>
            <a:r>
              <a:rPr lang="en-US" sz="8000" spc="1583" dirty="0">
                <a:solidFill>
                  <a:srgbClr val="231F20"/>
                </a:solidFill>
                <a:latin typeface="Times New Roman" panose="02020603050405020304" pitchFamily="18" charset="0"/>
                <a:ea typeface="Aerospace bold"/>
                <a:cs typeface="Times New Roman" panose="02020603050405020304" pitchFamily="18" charset="0"/>
                <a:sym typeface="Aerospace bold"/>
              </a:rPr>
              <a:t>THANK YOU</a:t>
            </a:r>
          </a:p>
        </p:txBody>
      </p:sp>
    </p:spTree>
    <p:extLst>
      <p:ext uri="{BB962C8B-B14F-4D97-AF65-F5344CB8AC3E}">
        <p14:creationId xmlns:p14="http://schemas.microsoft.com/office/powerpoint/2010/main" val="3925094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5763493</TotalTime>
  <Words>2162</Words>
  <Application>Microsoft Office PowerPoint</Application>
  <PresentationFormat>On-screen Show (4:3)</PresentationFormat>
  <Paragraphs>144</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PowerPoint Presentation</vt:lpstr>
      <vt:lpstr>Content</vt:lpstr>
      <vt:lpstr>                        Abstract </vt:lpstr>
      <vt:lpstr>  Introduction</vt:lpstr>
      <vt:lpstr>      Problem Statement</vt:lpstr>
      <vt:lpstr>                  Objective</vt:lpstr>
      <vt:lpstr>               Significance</vt:lpstr>
      <vt:lpstr>       Scope &amp; Limitations</vt:lpstr>
      <vt:lpstr>    Use Cases</vt:lpstr>
      <vt:lpstr>Literature Survey</vt:lpstr>
      <vt:lpstr>                       Methodology</vt:lpstr>
      <vt:lpstr>    Technology Stack</vt:lpstr>
      <vt:lpstr>Future Scope</vt:lpstr>
      <vt:lpstr>Conclusion</vt:lpstr>
      <vt:lpstr>References</vt:lpstr>
      <vt:lpstr>Acknowledgement</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 Vandana Mohindru Sood</dc:creator>
  <cp:lastModifiedBy>Mansi Garg</cp:lastModifiedBy>
  <cp:revision>1699</cp:revision>
  <dcterms:created xsi:type="dcterms:W3CDTF">2010-04-09T07:36:15Z</dcterms:created>
  <dcterms:modified xsi:type="dcterms:W3CDTF">2026-04-28T13:12:14Z</dcterms:modified>
</cp:coreProperties>
</file>